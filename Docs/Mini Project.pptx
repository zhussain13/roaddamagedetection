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5" r:id="rId16"/>
    <p:sldId id="276" r:id="rId17"/>
    <p:sldId id="270" r:id="rId18"/>
    <p:sldId id="271" r:id="rId19"/>
    <p:sldId id="277" r:id="rId20"/>
    <p:sldId id="278" r:id="rId21"/>
    <p:sldId id="279" r:id="rId22"/>
    <p:sldId id="272" r:id="rId23"/>
    <p:sldId id="273" r:id="rId24"/>
    <p:sldId id="280" r:id="rId25"/>
    <p:sldId id="274" r:id="rId26"/>
  </p:sldIdLst>
  <p:sldSz cx="18288000" cy="10287000"/>
  <p:notesSz cx="6858000" cy="9144000"/>
  <p:embeddedFontLst>
    <p:embeddedFont>
      <p:font typeface="Abhaya Libre" panose="020B0604020202020204" charset="0"/>
      <p:regular r:id="rId27"/>
    </p:embeddedFont>
    <p:embeddedFont>
      <p:font typeface="Abhaya Libre Bold" panose="020B0604020202020204" charset="0"/>
      <p:regular r:id="rId28"/>
    </p:embeddedFont>
    <p:embeddedFont>
      <p:font typeface="Alatsi" panose="020B0604020202020204" charset="0"/>
      <p:regular r:id="rId29"/>
    </p:embeddedFont>
    <p:embeddedFont>
      <p:font typeface="Open Sans" panose="020B0606030504020204" pitchFamily="34" charset="0"/>
      <p:regular r:id="rId30"/>
    </p:embeddedFont>
    <p:embeddedFont>
      <p:font typeface="Open Sans Bold" panose="020B0806030504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Freeform 12"/>
          <p:cNvSpPr/>
          <p:nvPr/>
        </p:nvSpPr>
        <p:spPr>
          <a:xfrm>
            <a:off x="12646898" y="-2101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1118095"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4208013" y="2868394"/>
            <a:ext cx="14079987" cy="3589020"/>
          </a:xfrm>
          <a:prstGeom prst="rect">
            <a:avLst/>
          </a:prstGeom>
        </p:spPr>
        <p:txBody>
          <a:bodyPr lIns="0" tIns="0" rIns="0" bIns="0" rtlCol="0" anchor="t">
            <a:spAutoFit/>
          </a:bodyPr>
          <a:lstStyle/>
          <a:p>
            <a:pPr algn="ctr">
              <a:lnSpc>
                <a:spcPts val="3879"/>
              </a:lnSpc>
            </a:pPr>
            <a:r>
              <a:rPr lang="en-US" sz="3999">
                <a:solidFill>
                  <a:srgbClr val="000000"/>
                </a:solidFill>
                <a:latin typeface="Abhaya Libre"/>
                <a:ea typeface="Abhaya Libre"/>
                <a:cs typeface="Abhaya Libre"/>
                <a:sym typeface="Abhaya Libre"/>
              </a:rPr>
              <a:t>MINI PROJECT PRESENTATION ON,</a:t>
            </a:r>
          </a:p>
          <a:p>
            <a:pPr algn="ctr">
              <a:lnSpc>
                <a:spcPts val="4850"/>
              </a:lnSpc>
            </a:pPr>
            <a:r>
              <a:rPr lang="en-US" sz="5000" b="1">
                <a:solidFill>
                  <a:srgbClr val="000000"/>
                </a:solidFill>
                <a:latin typeface="Abhaya Libre Bold"/>
                <a:ea typeface="Abhaya Libre Bold"/>
                <a:cs typeface="Abhaya Libre Bold"/>
                <a:sym typeface="Abhaya Libre Bold"/>
              </a:rPr>
              <a:t>ROADCARE+: A LIGHTWEIGHT AND EFFICIENT ROAD SURFACE DAMAGE DETECTION FRAMEWORK FOR INDIAN ROADS USING ENHANCED YOLOV7 WITH GHOSTNET, BASICRFB, AND CARAFE MODULES</a:t>
            </a:r>
          </a:p>
        </p:txBody>
      </p:sp>
      <p:sp>
        <p:nvSpPr>
          <p:cNvPr id="15" name="Freeform 15"/>
          <p:cNvSpPr/>
          <p:nvPr/>
        </p:nvSpPr>
        <p:spPr>
          <a:xfrm>
            <a:off x="12799298" y="-577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7025455" y="6566952"/>
            <a:ext cx="8445103" cy="762000"/>
          </a:xfrm>
          <a:prstGeom prst="rect">
            <a:avLst/>
          </a:prstGeom>
        </p:spPr>
        <p:txBody>
          <a:bodyPr lIns="0" tIns="0" rIns="0" bIns="0" rtlCol="0" anchor="t">
            <a:spAutoFit/>
          </a:bodyPr>
          <a:lstStyle/>
          <a:p>
            <a:pPr algn="ctr">
              <a:lnSpc>
                <a:spcPts val="6299"/>
              </a:lnSpc>
            </a:pPr>
            <a:r>
              <a:rPr lang="en-US" sz="4500">
                <a:solidFill>
                  <a:srgbClr val="000000"/>
                </a:solidFill>
                <a:latin typeface="Alatsi"/>
                <a:ea typeface="Alatsi"/>
                <a:cs typeface="Alatsi"/>
                <a:sym typeface="Alatsi"/>
              </a:rPr>
              <a:t>Presented By : Mr. Zaheed Hussain </a:t>
            </a:r>
          </a:p>
        </p:txBody>
      </p:sp>
      <p:sp>
        <p:nvSpPr>
          <p:cNvPr id="17" name="TextBox 17"/>
          <p:cNvSpPr txBox="1"/>
          <p:nvPr/>
        </p:nvSpPr>
        <p:spPr>
          <a:xfrm>
            <a:off x="7362783" y="8358494"/>
            <a:ext cx="7814048" cy="1391343"/>
          </a:xfrm>
          <a:prstGeom prst="rect">
            <a:avLst/>
          </a:prstGeom>
        </p:spPr>
        <p:txBody>
          <a:bodyPr wrap="square" lIns="0" tIns="0" rIns="0" bIns="0" rtlCol="0" anchor="t">
            <a:spAutoFit/>
          </a:bodyPr>
          <a:lstStyle/>
          <a:p>
            <a:pPr algn="ctr">
              <a:lnSpc>
                <a:spcPts val="5599"/>
              </a:lnSpc>
            </a:pPr>
            <a:r>
              <a:rPr lang="en-US" sz="3999" dirty="0">
                <a:solidFill>
                  <a:srgbClr val="000000"/>
                </a:solidFill>
                <a:latin typeface="Alatsi"/>
                <a:ea typeface="Alatsi"/>
                <a:cs typeface="Alatsi"/>
                <a:sym typeface="Alatsi"/>
              </a:rPr>
              <a:t>Chairperson [</a:t>
            </a:r>
            <a:r>
              <a:rPr lang="en-US" sz="3999" dirty="0" err="1">
                <a:solidFill>
                  <a:srgbClr val="000000"/>
                </a:solidFill>
                <a:latin typeface="Alatsi"/>
                <a:ea typeface="Alatsi"/>
                <a:cs typeface="Alatsi"/>
                <a:sym typeface="Alatsi"/>
              </a:rPr>
              <a:t>M.Tech</a:t>
            </a:r>
            <a:r>
              <a:rPr lang="en-US" sz="3999" dirty="0">
                <a:solidFill>
                  <a:srgbClr val="000000"/>
                </a:solidFill>
                <a:latin typeface="Alatsi"/>
                <a:ea typeface="Alatsi"/>
                <a:cs typeface="Alatsi"/>
                <a:sym typeface="Alatsi"/>
              </a:rPr>
              <a:t>(CSE)] &amp; Guide</a:t>
            </a:r>
          </a:p>
          <a:p>
            <a:pPr algn="ctr">
              <a:lnSpc>
                <a:spcPts val="5599"/>
              </a:lnSpc>
            </a:pPr>
            <a:r>
              <a:rPr lang="en-US" sz="3999" dirty="0">
                <a:solidFill>
                  <a:srgbClr val="000000"/>
                </a:solidFill>
                <a:latin typeface="Alatsi"/>
                <a:ea typeface="Alatsi"/>
                <a:cs typeface="Alatsi"/>
                <a:sym typeface="Alatsi"/>
              </a:rPr>
              <a:t>Dr. Rajashree V Biradar</a:t>
            </a:r>
          </a:p>
        </p:txBody>
      </p:sp>
      <p:sp>
        <p:nvSpPr>
          <p:cNvPr id="18" name="Freeform 18"/>
          <p:cNvSpPr/>
          <p:nvPr/>
        </p:nvSpPr>
        <p:spPr>
          <a:xfrm>
            <a:off x="16192500" y="9794"/>
            <a:ext cx="2095500" cy="2342611"/>
          </a:xfrm>
          <a:custGeom>
            <a:avLst/>
            <a:gdLst/>
            <a:ahLst/>
            <a:cxnLst/>
            <a:rect l="l" t="t" r="r" b="b"/>
            <a:pathLst>
              <a:path w="2095500" h="2342611">
                <a:moveTo>
                  <a:pt x="0" y="0"/>
                </a:moveTo>
                <a:lnTo>
                  <a:pt x="2095500" y="0"/>
                </a:lnTo>
                <a:lnTo>
                  <a:pt x="2095500" y="2342612"/>
                </a:lnTo>
                <a:lnTo>
                  <a:pt x="0" y="2342612"/>
                </a:lnTo>
                <a:lnTo>
                  <a:pt x="0" y="0"/>
                </a:lnTo>
                <a:close/>
              </a:path>
            </a:pathLst>
          </a:custGeom>
          <a:blipFill>
            <a:blip r:embed="rId4"/>
            <a:stretch>
              <a:fillRect/>
            </a:stretch>
          </a:blipFill>
        </p:spPr>
      </p:sp>
      <p:sp>
        <p:nvSpPr>
          <p:cNvPr id="19" name="TextBox 19"/>
          <p:cNvSpPr txBox="1"/>
          <p:nvPr/>
        </p:nvSpPr>
        <p:spPr>
          <a:xfrm>
            <a:off x="4422017" y="309976"/>
            <a:ext cx="11861277" cy="1534477"/>
          </a:xfrm>
          <a:prstGeom prst="rect">
            <a:avLst/>
          </a:prstGeom>
        </p:spPr>
        <p:txBody>
          <a:bodyPr lIns="0" tIns="0" rIns="0" bIns="0" rtlCol="0" anchor="t">
            <a:spAutoFit/>
          </a:bodyPr>
          <a:lstStyle/>
          <a:p>
            <a:pPr algn="ctr">
              <a:lnSpc>
                <a:spcPts val="6305"/>
              </a:lnSpc>
            </a:pPr>
            <a:r>
              <a:rPr lang="en-US" sz="6500">
                <a:solidFill>
                  <a:srgbClr val="000000"/>
                </a:solidFill>
                <a:latin typeface="Alatsi"/>
                <a:ea typeface="Alatsi"/>
                <a:cs typeface="Alatsi"/>
                <a:sym typeface="Alatsi"/>
              </a:rPr>
              <a:t>KISHKINDA UNIVERSITY</a:t>
            </a:r>
          </a:p>
          <a:p>
            <a:pPr algn="ctr">
              <a:lnSpc>
                <a:spcPts val="1940"/>
              </a:lnSpc>
            </a:pPr>
            <a:endParaRPr lang="en-US" sz="6500">
              <a:solidFill>
                <a:srgbClr val="000000"/>
              </a:solidFill>
              <a:latin typeface="Alatsi"/>
              <a:ea typeface="Alatsi"/>
              <a:cs typeface="Alatsi"/>
              <a:sym typeface="Alatsi"/>
            </a:endParaRPr>
          </a:p>
          <a:p>
            <a:pPr algn="ctr">
              <a:lnSpc>
                <a:spcPts val="3879"/>
              </a:lnSpc>
            </a:pPr>
            <a:r>
              <a:rPr lang="en-US" sz="3999">
                <a:solidFill>
                  <a:srgbClr val="000000"/>
                </a:solidFill>
                <a:latin typeface="Alatsi"/>
                <a:ea typeface="Alatsi"/>
                <a:cs typeface="Alatsi"/>
                <a:sym typeface="Alatsi"/>
              </a:rPr>
              <a:t>DEPARTMENT OF COMPUTER SCIENCE &amp; ENGINEERING</a:t>
            </a:r>
          </a:p>
        </p:txBody>
      </p:sp>
      <p:sp>
        <p:nvSpPr>
          <p:cNvPr id="20" name="TextBox 20"/>
          <p:cNvSpPr txBox="1"/>
          <p:nvPr/>
        </p:nvSpPr>
        <p:spPr>
          <a:xfrm>
            <a:off x="9144000" y="7457539"/>
            <a:ext cx="4251614" cy="514349"/>
          </a:xfrm>
          <a:prstGeom prst="rect">
            <a:avLst/>
          </a:prstGeom>
        </p:spPr>
        <p:txBody>
          <a:bodyPr lIns="0" tIns="0" rIns="0" bIns="0" rtlCol="0" anchor="t">
            <a:spAutoFit/>
          </a:bodyPr>
          <a:lstStyle/>
          <a:p>
            <a:pPr algn="ctr">
              <a:lnSpc>
                <a:spcPts val="4200"/>
              </a:lnSpc>
            </a:pPr>
            <a:r>
              <a:rPr lang="en-US" sz="3000">
                <a:solidFill>
                  <a:srgbClr val="000000"/>
                </a:solidFill>
                <a:latin typeface="Alatsi"/>
                <a:ea typeface="Alatsi"/>
                <a:cs typeface="Alatsi"/>
                <a:sym typeface="Alatsi"/>
              </a:rPr>
              <a:t>(KUB24MCS018)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606550"/>
            <a:ext cx="16230600" cy="7407275"/>
          </a:xfrm>
          <a:prstGeom prst="rect">
            <a:avLst/>
          </a:prstGeom>
        </p:spPr>
        <p:txBody>
          <a:bodyPr lIns="0" tIns="0" rIns="0" bIns="0" rtlCol="0" anchor="t">
            <a:spAutoFit/>
          </a:bodyPr>
          <a:lstStyle/>
          <a:p>
            <a:pPr algn="just">
              <a:lnSpc>
                <a:spcPts val="4900"/>
              </a:lnSpc>
            </a:pPr>
            <a:r>
              <a:rPr lang="en-US" sz="3500" b="1">
                <a:solidFill>
                  <a:srgbClr val="000000"/>
                </a:solidFill>
                <a:latin typeface="Open Sans Bold"/>
                <a:ea typeface="Open Sans Bold"/>
                <a:cs typeface="Open Sans Bold"/>
                <a:sym typeface="Open Sans Bold"/>
              </a:rPr>
              <a:t>Indian roads are prone to frequent surface damage</a:t>
            </a:r>
            <a:r>
              <a:rPr lang="en-US" sz="3500">
                <a:solidFill>
                  <a:srgbClr val="000000"/>
                </a:solidFill>
                <a:latin typeface="Open Sans"/>
                <a:ea typeface="Open Sans"/>
                <a:cs typeface="Open Sans"/>
                <a:sym typeface="Open Sans"/>
              </a:rPr>
              <a:t> including cracks and potholes, impacting both public safety and infrastructure costs. </a:t>
            </a:r>
            <a:r>
              <a:rPr lang="en-US" sz="3500" b="1">
                <a:solidFill>
                  <a:srgbClr val="000000"/>
                </a:solidFill>
                <a:latin typeface="Open Sans Bold"/>
                <a:ea typeface="Open Sans Bold"/>
                <a:cs typeface="Open Sans Bold"/>
                <a:sym typeface="Open Sans Bold"/>
              </a:rPr>
              <a:t>Traditional visual inspections are slow, labor-intensive, and unsuitable for large-scale deployment.</a:t>
            </a:r>
            <a:r>
              <a:rPr lang="en-US" sz="3500">
                <a:solidFill>
                  <a:srgbClr val="000000"/>
                </a:solidFill>
                <a:latin typeface="Open Sans"/>
                <a:ea typeface="Open Sans"/>
                <a:cs typeface="Open Sans"/>
                <a:sym typeface="Open Sans"/>
              </a:rPr>
              <a:t> To address this, </a:t>
            </a:r>
            <a:r>
              <a:rPr lang="en-US" sz="3500" b="1">
                <a:solidFill>
                  <a:srgbClr val="000000"/>
                </a:solidFill>
                <a:latin typeface="Open Sans Bold"/>
                <a:ea typeface="Open Sans Bold"/>
                <a:cs typeface="Open Sans Bold"/>
                <a:sym typeface="Open Sans Bold"/>
              </a:rPr>
              <a:t>we propose RoadCare+, a lightweight deep learning-based solution that enhances YOLOv7 using GhostNet, BasicRFB, and CARAFE modules. </a:t>
            </a:r>
            <a:r>
              <a:rPr lang="en-US" sz="3500">
                <a:solidFill>
                  <a:srgbClr val="000000"/>
                </a:solidFill>
                <a:latin typeface="Open Sans"/>
                <a:ea typeface="Open Sans"/>
                <a:cs typeface="Open Sans"/>
                <a:sym typeface="Open Sans"/>
              </a:rPr>
              <a:t>The system is trained exclusively on the </a:t>
            </a:r>
            <a:r>
              <a:rPr lang="en-US" sz="3500" b="1">
                <a:solidFill>
                  <a:srgbClr val="000000"/>
                </a:solidFill>
                <a:latin typeface="Open Sans Bold"/>
                <a:ea typeface="Open Sans Bold"/>
                <a:cs typeface="Open Sans Bold"/>
                <a:sym typeface="Open Sans Bold"/>
              </a:rPr>
              <a:t>RDD2020 India dataset</a:t>
            </a:r>
            <a:r>
              <a:rPr lang="en-US" sz="3500">
                <a:solidFill>
                  <a:srgbClr val="000000"/>
                </a:solidFill>
                <a:latin typeface="Open Sans"/>
                <a:ea typeface="Open Sans"/>
                <a:cs typeface="Open Sans"/>
                <a:sym typeface="Open Sans"/>
              </a:rPr>
              <a:t> and aims to deliver real-time, high-accuracy road damage detection while maintaining low computational load. </a:t>
            </a:r>
            <a:r>
              <a:rPr lang="en-US" sz="3500" b="1">
                <a:solidFill>
                  <a:srgbClr val="000000"/>
                </a:solidFill>
                <a:latin typeface="Open Sans Bold"/>
                <a:ea typeface="Open Sans Bold"/>
                <a:cs typeface="Open Sans Bold"/>
                <a:sym typeface="Open Sans Bold"/>
              </a:rPr>
              <a:t>This pipeline not only detects damage efficiently but also auto-generates Excel/PDF reports and can optionally be deployed via a Streamlit web interface.</a:t>
            </a:r>
            <a:r>
              <a:rPr lang="en-US" sz="3500">
                <a:solidFill>
                  <a:srgbClr val="000000"/>
                </a:solidFill>
                <a:latin typeface="Open Sans"/>
                <a:ea typeface="Open Sans"/>
                <a:cs typeface="Open Sans"/>
                <a:sym typeface="Open Sans"/>
              </a:rPr>
              <a:t> The proposed solution improves performance over </a:t>
            </a:r>
            <a:r>
              <a:rPr lang="en-US" sz="3500" b="1">
                <a:solidFill>
                  <a:srgbClr val="000000"/>
                </a:solidFill>
                <a:latin typeface="Open Sans Bold"/>
                <a:ea typeface="Open Sans Bold"/>
                <a:cs typeface="Open Sans Bold"/>
                <a:sym typeface="Open Sans Bold"/>
              </a:rPr>
              <a:t>baseline YOLO models, both in terms of speed and accuracy.</a:t>
            </a: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ABSTRACT</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59773" y="2302494"/>
            <a:ext cx="14705320" cy="6758773"/>
          </a:xfrm>
          <a:prstGeom prst="rect">
            <a:avLst/>
          </a:prstGeom>
        </p:spPr>
        <p:txBody>
          <a:bodyPr lIns="0" tIns="0" rIns="0" bIns="0" rtlCol="0" anchor="t">
            <a:spAutoFit/>
          </a:bodyPr>
          <a:lstStyle/>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INTRODUCTION</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PROBLEM STATEMENT</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LITERATURE SURVEY</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OBJECTIVES</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SYSTEM DESIGN</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TESTING</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RESULTS</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CONCLUSION</a:t>
            </a:r>
          </a:p>
          <a:p>
            <a:pPr marL="902546" lvl="1" indent="-451273" algn="just">
              <a:lnSpc>
                <a:spcPts val="5852"/>
              </a:lnSpc>
              <a:buFont typeface="Arial"/>
              <a:buChar char="•"/>
            </a:pPr>
            <a:r>
              <a:rPr lang="en-US" sz="4180" dirty="0">
                <a:solidFill>
                  <a:srgbClr val="000000"/>
                </a:solidFill>
                <a:latin typeface="Open Sans"/>
                <a:ea typeface="Open Sans"/>
                <a:cs typeface="Open Sans"/>
                <a:sym typeface="Open Sans"/>
              </a:rPr>
              <a:t>REFERENCES</a:t>
            </a: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Freeform 4"/>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6" name="TextBox 6"/>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TABLE OF CONTENTS</a:t>
            </a:r>
          </a:p>
        </p:txBody>
      </p:sp>
      <p:grpSp>
        <p:nvGrpSpPr>
          <p:cNvPr id="7" name="Group 7"/>
          <p:cNvGrpSpPr/>
          <p:nvPr/>
        </p:nvGrpSpPr>
        <p:grpSpPr>
          <a:xfrm>
            <a:off x="15859155" y="0"/>
            <a:ext cx="1562612" cy="1673225"/>
            <a:chOff x="0" y="0"/>
            <a:chExt cx="2083482" cy="2230967"/>
          </a:xfrm>
        </p:grpSpPr>
        <p:grpSp>
          <p:nvGrpSpPr>
            <p:cNvPr id="8" name="Group 8"/>
            <p:cNvGrpSpPr/>
            <p:nvPr/>
          </p:nvGrpSpPr>
          <p:grpSpPr>
            <a:xfrm>
              <a:off x="75599" y="0"/>
              <a:ext cx="1932284" cy="2230967"/>
              <a:chOff x="0" y="0"/>
              <a:chExt cx="703982" cy="812800"/>
            </a:xfrm>
          </p:grpSpPr>
          <p:sp>
            <p:nvSpPr>
              <p:cNvPr id="9" name="Freeform 9"/>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0" name="TextBox 10"/>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2</a:t>
              </a:r>
            </a:p>
          </p:txBody>
        </p:sp>
      </p:grpSp>
      <p:sp>
        <p:nvSpPr>
          <p:cNvPr id="12" name="Freeform 12"/>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30028" y="1677772"/>
            <a:ext cx="16229272" cy="6788150"/>
          </a:xfrm>
          <a:prstGeom prst="rect">
            <a:avLst/>
          </a:prstGeom>
        </p:spPr>
        <p:txBody>
          <a:bodyPr lIns="0" tIns="0" rIns="0" bIns="0" rtlCol="0" anchor="t">
            <a:spAutoFit/>
          </a:bodyPr>
          <a:lstStyle/>
          <a:p>
            <a:pPr algn="just">
              <a:lnSpc>
                <a:spcPts val="4900"/>
              </a:lnSpc>
            </a:pPr>
            <a:r>
              <a:rPr lang="en-US" sz="3500" b="1">
                <a:solidFill>
                  <a:srgbClr val="000000"/>
                </a:solidFill>
                <a:latin typeface="Open Sans Bold"/>
                <a:ea typeface="Open Sans Bold"/>
                <a:cs typeface="Open Sans Bold"/>
                <a:sym typeface="Open Sans Bold"/>
              </a:rPr>
              <a:t>India’s vast road network often suffers from issues like potholes, cracks, and surface deterioration that compromise transportation safety.</a:t>
            </a:r>
            <a:r>
              <a:rPr lang="en-US" sz="3500">
                <a:solidFill>
                  <a:srgbClr val="000000"/>
                </a:solidFill>
                <a:latin typeface="Open Sans"/>
                <a:ea typeface="Open Sans"/>
                <a:cs typeface="Open Sans"/>
                <a:sym typeface="Open Sans"/>
              </a:rPr>
              <a:t> Traditional inspection methods are inefficient and lack consistency. </a:t>
            </a:r>
            <a:r>
              <a:rPr lang="en-US" sz="3500" b="1">
                <a:solidFill>
                  <a:srgbClr val="000000"/>
                </a:solidFill>
                <a:latin typeface="Open Sans Bold"/>
                <a:ea typeface="Open Sans Bold"/>
                <a:cs typeface="Open Sans Bold"/>
                <a:sym typeface="Open Sans Bold"/>
              </a:rPr>
              <a:t>Deep learning models like YOLO have shown promise for automated damage detection, but challenges remain in achieving lightweight, real-time performance suited for practical deployment. </a:t>
            </a:r>
            <a:r>
              <a:rPr lang="en-US" sz="3500">
                <a:solidFill>
                  <a:srgbClr val="000000"/>
                </a:solidFill>
                <a:latin typeface="Open Sans"/>
                <a:ea typeface="Open Sans"/>
                <a:cs typeface="Open Sans"/>
                <a:sym typeface="Open Sans"/>
              </a:rPr>
              <a:t>This project aims to </a:t>
            </a:r>
            <a:r>
              <a:rPr lang="en-US" sz="3500" b="1">
                <a:solidFill>
                  <a:srgbClr val="000000"/>
                </a:solidFill>
                <a:latin typeface="Open Sans Bold"/>
                <a:ea typeface="Open Sans Bold"/>
                <a:cs typeface="Open Sans Bold"/>
                <a:sym typeface="Open Sans Bold"/>
              </a:rPr>
              <a:t>implement and enhance a lightweight version of the YOLOvX model using architectural improvements like GhostNet, BasicRFB, and CARAFE</a:t>
            </a:r>
            <a:r>
              <a:rPr lang="en-US" sz="3500">
                <a:solidFill>
                  <a:srgbClr val="000000"/>
                </a:solidFill>
                <a:latin typeface="Open Sans"/>
                <a:ea typeface="Open Sans"/>
                <a:cs typeface="Open Sans"/>
                <a:sym typeface="Open Sans"/>
              </a:rPr>
              <a:t>. By focusing solely on Indian roads using the </a:t>
            </a:r>
            <a:r>
              <a:rPr lang="en-US" sz="3500" b="1">
                <a:solidFill>
                  <a:srgbClr val="000000"/>
                </a:solidFill>
                <a:latin typeface="Open Sans Bold"/>
                <a:ea typeface="Open Sans Bold"/>
                <a:cs typeface="Open Sans Bold"/>
                <a:sym typeface="Open Sans Bold"/>
              </a:rPr>
              <a:t>RDD2020 India dataset, the solution provides a region-specific, efficient, and end-to-end software pipeline from detection to automated reporting.</a:t>
            </a: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INTRODUCTION</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3</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30028" y="2657224"/>
            <a:ext cx="16229272" cy="3073400"/>
          </a:xfrm>
          <a:prstGeom prst="rect">
            <a:avLst/>
          </a:prstGeom>
        </p:spPr>
        <p:txBody>
          <a:bodyPr lIns="0" tIns="0" rIns="0" bIns="0" rtlCol="0" anchor="t">
            <a:spAutoFit/>
          </a:bodyPr>
          <a:lstStyle/>
          <a:p>
            <a:pPr algn="just">
              <a:lnSpc>
                <a:spcPts val="4900"/>
              </a:lnSpc>
            </a:pPr>
            <a:r>
              <a:rPr lang="en-US" sz="3500" b="1">
                <a:solidFill>
                  <a:srgbClr val="000000"/>
                </a:solidFill>
                <a:latin typeface="Open Sans Bold"/>
                <a:ea typeface="Open Sans Bold"/>
                <a:cs typeface="Open Sans Bold"/>
                <a:sym typeface="Open Sans Bold"/>
              </a:rPr>
              <a:t>To design and develop a lightweight and efficient deep learning-based software system using an enhanced YOLOvX architecture for automatic detection of road surface damages on Indian roads. The system aims to improve real-time performance while generating actionable reports for practical use.</a:t>
            </a: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Freeform 4"/>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6" name="TextBox 6"/>
          <p:cNvSpPr txBox="1"/>
          <p:nvPr/>
        </p:nvSpPr>
        <p:spPr>
          <a:xfrm>
            <a:off x="2554645" y="795348"/>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PROBLEM STATEMENT</a:t>
            </a:r>
          </a:p>
        </p:txBody>
      </p:sp>
      <p:grpSp>
        <p:nvGrpSpPr>
          <p:cNvPr id="7" name="Group 7"/>
          <p:cNvGrpSpPr/>
          <p:nvPr/>
        </p:nvGrpSpPr>
        <p:grpSpPr>
          <a:xfrm>
            <a:off x="15859155" y="0"/>
            <a:ext cx="1562612" cy="2246324"/>
            <a:chOff x="0" y="0"/>
            <a:chExt cx="2083482" cy="2995098"/>
          </a:xfrm>
        </p:grpSpPr>
        <p:grpSp>
          <p:nvGrpSpPr>
            <p:cNvPr id="8" name="Group 8"/>
            <p:cNvGrpSpPr/>
            <p:nvPr/>
          </p:nvGrpSpPr>
          <p:grpSpPr>
            <a:xfrm>
              <a:off x="75599" y="0"/>
              <a:ext cx="1932284" cy="2230967"/>
              <a:chOff x="0" y="0"/>
              <a:chExt cx="703982" cy="812800"/>
            </a:xfrm>
          </p:grpSpPr>
          <p:sp>
            <p:nvSpPr>
              <p:cNvPr id="9" name="Freeform 9"/>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0" name="TextBox 10"/>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0" y="437582"/>
              <a:ext cx="2083482" cy="2557517"/>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4</a:t>
              </a:r>
            </a:p>
            <a:p>
              <a:pPr algn="ctr">
                <a:lnSpc>
                  <a:spcPts val="7805"/>
                </a:lnSpc>
              </a:pPr>
              <a:endParaRPr lang="en-US" sz="5575" b="1">
                <a:solidFill>
                  <a:srgbClr val="000000"/>
                </a:solidFill>
                <a:latin typeface="Open Sans Bold"/>
                <a:ea typeface="Open Sans Bold"/>
                <a:cs typeface="Open Sans Bold"/>
                <a:sym typeface="Open Sans Bold"/>
              </a:endParaRPr>
            </a:p>
          </p:txBody>
        </p:sp>
      </p:grpSp>
      <p:sp>
        <p:nvSpPr>
          <p:cNvPr id="12" name="Freeform 12"/>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679116"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LITERATURE SURVEY</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5</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028700" y="2008459"/>
            <a:ext cx="16230600" cy="6289358"/>
          </a:xfrm>
          <a:custGeom>
            <a:avLst/>
            <a:gdLst/>
            <a:ahLst/>
            <a:cxnLst/>
            <a:rect l="l" t="t" r="r" b="b"/>
            <a:pathLst>
              <a:path w="16230600" h="6289358">
                <a:moveTo>
                  <a:pt x="0" y="0"/>
                </a:moveTo>
                <a:lnTo>
                  <a:pt x="16230600" y="0"/>
                </a:lnTo>
                <a:lnTo>
                  <a:pt x="16230600" y="6289358"/>
                </a:lnTo>
                <a:lnTo>
                  <a:pt x="0" y="6289358"/>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679116"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LITERATURE SURVEY</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6</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028700" y="2008459"/>
            <a:ext cx="16230600" cy="6289358"/>
          </a:xfrm>
          <a:custGeom>
            <a:avLst/>
            <a:gdLst/>
            <a:ahLst/>
            <a:cxnLst/>
            <a:rect l="l" t="t" r="r" b="b"/>
            <a:pathLst>
              <a:path w="16230600" h="6289358">
                <a:moveTo>
                  <a:pt x="0" y="0"/>
                </a:moveTo>
                <a:lnTo>
                  <a:pt x="16230600" y="0"/>
                </a:lnTo>
                <a:lnTo>
                  <a:pt x="16230600" y="6289358"/>
                </a:lnTo>
                <a:lnTo>
                  <a:pt x="0" y="6289358"/>
                </a:lnTo>
                <a:lnTo>
                  <a:pt x="0" y="0"/>
                </a:lnTo>
                <a:close/>
              </a:path>
            </a:pathLst>
          </a:custGeom>
          <a:blipFill>
            <a:blip r:embed="rId4"/>
            <a:stretch>
              <a:fillRect/>
            </a:stretch>
          </a:blipFill>
        </p:spPr>
      </p:sp>
      <p:sp>
        <p:nvSpPr>
          <p:cNvPr id="13" name="Freeform 13"/>
          <p:cNvSpPr/>
          <p:nvPr/>
        </p:nvSpPr>
        <p:spPr>
          <a:xfrm>
            <a:off x="1030028" y="2029763"/>
            <a:ext cx="16229272" cy="6227983"/>
          </a:xfrm>
          <a:custGeom>
            <a:avLst/>
            <a:gdLst/>
            <a:ahLst/>
            <a:cxnLst/>
            <a:rect l="l" t="t" r="r" b="b"/>
            <a:pathLst>
              <a:path w="16229272" h="6227983">
                <a:moveTo>
                  <a:pt x="0" y="0"/>
                </a:moveTo>
                <a:lnTo>
                  <a:pt x="16229272" y="0"/>
                </a:lnTo>
                <a:lnTo>
                  <a:pt x="16229272" y="6227983"/>
                </a:lnTo>
                <a:lnTo>
                  <a:pt x="0" y="6227983"/>
                </a:lnTo>
                <a:lnTo>
                  <a:pt x="0" y="0"/>
                </a:lnTo>
                <a:close/>
              </a:path>
            </a:pathLst>
          </a:custGeom>
          <a:blipFill>
            <a:blip r:embed="rId5"/>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679116"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LITERATURE SURVEY</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7</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99087" y="2352603"/>
            <a:ext cx="16722680" cy="6043359"/>
          </a:xfrm>
          <a:custGeom>
            <a:avLst/>
            <a:gdLst/>
            <a:ahLst/>
            <a:cxnLst/>
            <a:rect l="l" t="t" r="r" b="b"/>
            <a:pathLst>
              <a:path w="16722680" h="6043359">
                <a:moveTo>
                  <a:pt x="0" y="0"/>
                </a:moveTo>
                <a:lnTo>
                  <a:pt x="16722680" y="0"/>
                </a:lnTo>
                <a:lnTo>
                  <a:pt x="16722680" y="6043359"/>
                </a:lnTo>
                <a:lnTo>
                  <a:pt x="0" y="6043359"/>
                </a:lnTo>
                <a:lnTo>
                  <a:pt x="0" y="0"/>
                </a:lnTo>
                <a:close/>
              </a:path>
            </a:pathLst>
          </a:custGeom>
          <a:blipFill>
            <a:blip r:embed="rId4"/>
            <a:stretch>
              <a:fillRect l="-192" r="-192"/>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679116"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LITERATURE SURVEY</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8</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99087" y="2352603"/>
            <a:ext cx="16722680" cy="6043359"/>
          </a:xfrm>
          <a:custGeom>
            <a:avLst/>
            <a:gdLst/>
            <a:ahLst/>
            <a:cxnLst/>
            <a:rect l="l" t="t" r="r" b="b"/>
            <a:pathLst>
              <a:path w="16722680" h="6043359">
                <a:moveTo>
                  <a:pt x="0" y="0"/>
                </a:moveTo>
                <a:lnTo>
                  <a:pt x="16722680" y="0"/>
                </a:lnTo>
                <a:lnTo>
                  <a:pt x="16722680" y="6043359"/>
                </a:lnTo>
                <a:lnTo>
                  <a:pt x="0" y="6043359"/>
                </a:lnTo>
                <a:lnTo>
                  <a:pt x="0" y="0"/>
                </a:lnTo>
                <a:close/>
              </a:path>
            </a:pathLst>
          </a:custGeom>
          <a:blipFill>
            <a:blip r:embed="rId4"/>
            <a:stretch>
              <a:fillRect l="-192" r="-192"/>
            </a:stretch>
          </a:blipFill>
        </p:spPr>
      </p:sp>
      <p:sp>
        <p:nvSpPr>
          <p:cNvPr id="13" name="Freeform 13"/>
          <p:cNvSpPr/>
          <p:nvPr/>
        </p:nvSpPr>
        <p:spPr>
          <a:xfrm>
            <a:off x="699087" y="2102908"/>
            <a:ext cx="16722680" cy="6542749"/>
          </a:xfrm>
          <a:custGeom>
            <a:avLst/>
            <a:gdLst/>
            <a:ahLst/>
            <a:cxnLst/>
            <a:rect l="l" t="t" r="r" b="b"/>
            <a:pathLst>
              <a:path w="16722680" h="6542749">
                <a:moveTo>
                  <a:pt x="0" y="0"/>
                </a:moveTo>
                <a:lnTo>
                  <a:pt x="16722680" y="0"/>
                </a:lnTo>
                <a:lnTo>
                  <a:pt x="16722680" y="6542749"/>
                </a:lnTo>
                <a:lnTo>
                  <a:pt x="0" y="6542749"/>
                </a:lnTo>
                <a:lnTo>
                  <a:pt x="0" y="0"/>
                </a:lnTo>
                <a:close/>
              </a:path>
            </a:pathLst>
          </a:custGeom>
          <a:blipFill>
            <a:blip r:embed="rId5"/>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679116"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LITERATURE SURVEY</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9</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718650" y="2352603"/>
            <a:ext cx="16703117" cy="5532908"/>
          </a:xfrm>
          <a:custGeom>
            <a:avLst/>
            <a:gdLst/>
            <a:ahLst/>
            <a:cxnLst/>
            <a:rect l="l" t="t" r="r" b="b"/>
            <a:pathLst>
              <a:path w="16703117" h="5532908">
                <a:moveTo>
                  <a:pt x="0" y="0"/>
                </a:moveTo>
                <a:lnTo>
                  <a:pt x="16703117" y="0"/>
                </a:lnTo>
                <a:lnTo>
                  <a:pt x="16703117" y="5532907"/>
                </a:lnTo>
                <a:lnTo>
                  <a:pt x="0" y="5532907"/>
                </a:lnTo>
                <a:lnTo>
                  <a:pt x="0" y="0"/>
                </a:lnTo>
                <a:close/>
              </a:path>
            </a:pathLst>
          </a:custGeom>
          <a:blipFill>
            <a:blip r:embed="rId4"/>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OBJECTIVES</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10</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030028" y="1668247"/>
            <a:ext cx="16229272" cy="7023100"/>
          </a:xfrm>
          <a:prstGeom prst="rect">
            <a:avLst/>
          </a:prstGeom>
        </p:spPr>
        <p:txBody>
          <a:bodyPr lIns="0" tIns="0" rIns="0" bIns="0" rtlCol="0" anchor="t">
            <a:spAutoFit/>
          </a:bodyPr>
          <a:lstStyle/>
          <a:p>
            <a:pPr algn="just">
              <a:lnSpc>
                <a:spcPts val="5599"/>
              </a:lnSpc>
            </a:pPr>
            <a:r>
              <a:rPr lang="en-US" sz="3999" b="1">
                <a:solidFill>
                  <a:srgbClr val="000000"/>
                </a:solidFill>
                <a:latin typeface="Open Sans Bold"/>
                <a:ea typeface="Open Sans Bold"/>
                <a:cs typeface="Open Sans Bold"/>
                <a:sym typeface="Open Sans Bold"/>
              </a:rPr>
              <a:t>1.</a:t>
            </a:r>
            <a:r>
              <a:rPr lang="en-US" sz="3999">
                <a:solidFill>
                  <a:srgbClr val="000000"/>
                </a:solidFill>
                <a:latin typeface="Open Sans"/>
                <a:ea typeface="Open Sans"/>
                <a:cs typeface="Open Sans"/>
                <a:sym typeface="Open Sans"/>
              </a:rPr>
              <a:t> To implement and train a lightweight YOLOv7 model (GRC-YOLO) for road damage detection.</a:t>
            </a:r>
          </a:p>
          <a:p>
            <a:pPr algn="just">
              <a:lnSpc>
                <a:spcPts val="5599"/>
              </a:lnSpc>
            </a:pPr>
            <a:r>
              <a:rPr lang="en-US" sz="3999" b="1">
                <a:solidFill>
                  <a:srgbClr val="000000"/>
                </a:solidFill>
                <a:latin typeface="Open Sans Bold"/>
                <a:ea typeface="Open Sans Bold"/>
                <a:cs typeface="Open Sans Bold"/>
                <a:sym typeface="Open Sans Bold"/>
              </a:rPr>
              <a:t>2.</a:t>
            </a:r>
            <a:r>
              <a:rPr lang="en-US" sz="3999">
                <a:solidFill>
                  <a:srgbClr val="000000"/>
                </a:solidFill>
                <a:latin typeface="Open Sans"/>
                <a:ea typeface="Open Sans"/>
                <a:cs typeface="Open Sans"/>
                <a:sym typeface="Open Sans"/>
              </a:rPr>
              <a:t> To use only the RDD2020 India dataset for region-specific training and evaluation.</a:t>
            </a:r>
          </a:p>
          <a:p>
            <a:pPr algn="just">
              <a:lnSpc>
                <a:spcPts val="5599"/>
              </a:lnSpc>
            </a:pPr>
            <a:r>
              <a:rPr lang="en-US" sz="3999" b="1">
                <a:solidFill>
                  <a:srgbClr val="000000"/>
                </a:solidFill>
                <a:latin typeface="Open Sans Bold"/>
                <a:ea typeface="Open Sans Bold"/>
                <a:cs typeface="Open Sans Bold"/>
                <a:sym typeface="Open Sans Bold"/>
              </a:rPr>
              <a:t>3. </a:t>
            </a:r>
            <a:r>
              <a:rPr lang="en-US" sz="3999">
                <a:solidFill>
                  <a:srgbClr val="000000"/>
                </a:solidFill>
                <a:latin typeface="Open Sans"/>
                <a:ea typeface="Open Sans"/>
                <a:cs typeface="Open Sans"/>
                <a:sym typeface="Open Sans"/>
              </a:rPr>
              <a:t>To evaluate performance using metrics like precision, recall, F1-score, FPS, and model size.</a:t>
            </a:r>
          </a:p>
          <a:p>
            <a:pPr algn="just">
              <a:lnSpc>
                <a:spcPts val="5599"/>
              </a:lnSpc>
            </a:pPr>
            <a:r>
              <a:rPr lang="en-US" sz="3999" b="1">
                <a:solidFill>
                  <a:srgbClr val="000000"/>
                </a:solidFill>
                <a:latin typeface="Open Sans Bold"/>
                <a:ea typeface="Open Sans Bold"/>
                <a:cs typeface="Open Sans Bold"/>
                <a:sym typeface="Open Sans Bold"/>
              </a:rPr>
              <a:t>4.</a:t>
            </a:r>
            <a:r>
              <a:rPr lang="en-US" sz="3999">
                <a:solidFill>
                  <a:srgbClr val="000000"/>
                </a:solidFill>
                <a:latin typeface="Open Sans"/>
                <a:ea typeface="Open Sans"/>
                <a:cs typeface="Open Sans"/>
                <a:sym typeface="Open Sans"/>
              </a:rPr>
              <a:t> To auto-generate damage summary reports (Excel/PDF) post-detection.</a:t>
            </a:r>
          </a:p>
          <a:p>
            <a:pPr algn="just">
              <a:lnSpc>
                <a:spcPts val="5599"/>
              </a:lnSpc>
            </a:pPr>
            <a:r>
              <a:rPr lang="en-US" sz="3999" b="1">
                <a:solidFill>
                  <a:srgbClr val="000000"/>
                </a:solidFill>
                <a:latin typeface="Open Sans Bold"/>
                <a:ea typeface="Open Sans Bold"/>
                <a:cs typeface="Open Sans Bold"/>
                <a:sym typeface="Open Sans Bold"/>
              </a:rPr>
              <a:t>5.</a:t>
            </a:r>
            <a:r>
              <a:rPr lang="en-US" sz="3999">
                <a:solidFill>
                  <a:srgbClr val="000000"/>
                </a:solidFill>
                <a:latin typeface="Open Sans"/>
                <a:ea typeface="Open Sans"/>
                <a:cs typeface="Open Sans"/>
                <a:sym typeface="Open Sans"/>
              </a:rPr>
              <a:t> To benchmark the model’s improvements against the YOLOv7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SYSTEM DESIGN</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11</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5452002" y="1558925"/>
            <a:ext cx="7474035" cy="8389528"/>
          </a:xfrm>
          <a:custGeom>
            <a:avLst/>
            <a:gdLst/>
            <a:ahLst/>
            <a:cxnLst/>
            <a:rect l="l" t="t" r="r" b="b"/>
            <a:pathLst>
              <a:path w="7474035" h="8389528">
                <a:moveTo>
                  <a:pt x="0" y="0"/>
                </a:moveTo>
                <a:lnTo>
                  <a:pt x="7474036" y="0"/>
                </a:lnTo>
                <a:lnTo>
                  <a:pt x="7474036" y="8389528"/>
                </a:lnTo>
                <a:lnTo>
                  <a:pt x="0" y="8389528"/>
                </a:lnTo>
                <a:lnTo>
                  <a:pt x="0" y="0"/>
                </a:lnTo>
                <a:close/>
              </a:path>
            </a:pathLst>
          </a:custGeom>
          <a:blipFill>
            <a:blip r:embed="rId4"/>
            <a:stretch>
              <a:fillRect l="-3312" t="-5912" r="-2108" b="-3417"/>
            </a:stretch>
          </a:blipFill>
        </p:spPr>
      </p:sp>
      <p:sp>
        <p:nvSpPr>
          <p:cNvPr id="13" name="TextBox 13"/>
          <p:cNvSpPr txBox="1"/>
          <p:nvPr/>
        </p:nvSpPr>
        <p:spPr>
          <a:xfrm>
            <a:off x="7242135" y="962025"/>
            <a:ext cx="3803730" cy="596900"/>
          </a:xfrm>
          <a:prstGeom prst="rect">
            <a:avLst/>
          </a:prstGeom>
        </p:spPr>
        <p:txBody>
          <a:bodyPr lIns="0" tIns="0" rIns="0" bIns="0" rtlCol="0" anchor="t">
            <a:spAutoFit/>
          </a:bodyPr>
          <a:lstStyle/>
          <a:p>
            <a:pPr algn="just">
              <a:lnSpc>
                <a:spcPts val="4900"/>
              </a:lnSpc>
            </a:pPr>
            <a:r>
              <a:rPr lang="en-US" sz="3500" b="1">
                <a:solidFill>
                  <a:srgbClr val="000000"/>
                </a:solidFill>
                <a:latin typeface="Open Sans Bold"/>
                <a:ea typeface="Open Sans Bold"/>
                <a:cs typeface="Open Sans Bold"/>
                <a:sym typeface="Open Sans Bold"/>
              </a:rPr>
              <a:t>BLOCK DIAGRAM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SYSTEM DESIGN</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12</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936485" y="1744447"/>
            <a:ext cx="14703976" cy="6934372"/>
          </a:xfrm>
          <a:custGeom>
            <a:avLst/>
            <a:gdLst/>
            <a:ahLst/>
            <a:cxnLst/>
            <a:rect l="l" t="t" r="r" b="b"/>
            <a:pathLst>
              <a:path w="14703976" h="6934372">
                <a:moveTo>
                  <a:pt x="0" y="0"/>
                </a:moveTo>
                <a:lnTo>
                  <a:pt x="14703976" y="0"/>
                </a:lnTo>
                <a:lnTo>
                  <a:pt x="14703976" y="6934372"/>
                </a:lnTo>
                <a:lnTo>
                  <a:pt x="0" y="6934372"/>
                </a:lnTo>
                <a:lnTo>
                  <a:pt x="0" y="0"/>
                </a:lnTo>
                <a:close/>
              </a:path>
            </a:pathLst>
          </a:custGeom>
          <a:blipFill>
            <a:blip r:embed="rId4"/>
            <a:stretch>
              <a:fillRect/>
            </a:stretch>
          </a:blipFill>
        </p:spPr>
      </p:sp>
      <p:sp>
        <p:nvSpPr>
          <p:cNvPr id="13" name="TextBox 13"/>
          <p:cNvSpPr txBox="1"/>
          <p:nvPr/>
        </p:nvSpPr>
        <p:spPr>
          <a:xfrm>
            <a:off x="6566834" y="962025"/>
            <a:ext cx="5154332" cy="596900"/>
          </a:xfrm>
          <a:prstGeom prst="rect">
            <a:avLst/>
          </a:prstGeom>
        </p:spPr>
        <p:txBody>
          <a:bodyPr lIns="0" tIns="0" rIns="0" bIns="0" rtlCol="0" anchor="t">
            <a:spAutoFit/>
          </a:bodyPr>
          <a:lstStyle/>
          <a:p>
            <a:pPr algn="just">
              <a:lnSpc>
                <a:spcPts val="4900"/>
              </a:lnSpc>
            </a:pPr>
            <a:r>
              <a:rPr lang="en-US" sz="3500" b="1" dirty="0">
                <a:solidFill>
                  <a:srgbClr val="000000"/>
                </a:solidFill>
                <a:latin typeface="Open Sans Bold"/>
                <a:ea typeface="Open Sans Bold"/>
                <a:cs typeface="Open Sans Bold"/>
                <a:sym typeface="Open Sans Bold"/>
              </a:rPr>
              <a:t>SYSTEM ARCHITECTURE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SYSTEM DESIGN</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13</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3100288" y="1986368"/>
            <a:ext cx="12087424" cy="596900"/>
          </a:xfrm>
          <a:prstGeom prst="rect">
            <a:avLst/>
          </a:prstGeom>
        </p:spPr>
        <p:txBody>
          <a:bodyPr lIns="0" tIns="0" rIns="0" bIns="0" rtlCol="0" anchor="t">
            <a:spAutoFit/>
          </a:bodyPr>
          <a:lstStyle/>
          <a:p>
            <a:pPr algn="just">
              <a:lnSpc>
                <a:spcPts val="4900"/>
              </a:lnSpc>
            </a:pPr>
            <a:r>
              <a:rPr lang="en-US" sz="3500" b="1">
                <a:solidFill>
                  <a:srgbClr val="000000"/>
                </a:solidFill>
                <a:latin typeface="Open Sans Bold"/>
                <a:ea typeface="Open Sans Bold"/>
                <a:cs typeface="Open Sans Bold"/>
                <a:sym typeface="Open Sans Bold"/>
              </a:rPr>
              <a:t>Development Methodology: Prototyping + Agile Hybrid</a:t>
            </a:r>
          </a:p>
        </p:txBody>
      </p:sp>
      <p:sp>
        <p:nvSpPr>
          <p:cNvPr id="13" name="TextBox 13"/>
          <p:cNvSpPr txBox="1"/>
          <p:nvPr/>
        </p:nvSpPr>
        <p:spPr>
          <a:xfrm>
            <a:off x="1028700" y="2825188"/>
            <a:ext cx="16230600" cy="3692525"/>
          </a:xfrm>
          <a:prstGeom prst="rect">
            <a:avLst/>
          </a:prstGeom>
        </p:spPr>
        <p:txBody>
          <a:bodyPr lIns="0" tIns="0" rIns="0" bIns="0" rtlCol="0" anchor="t">
            <a:spAutoFit/>
          </a:bodyPr>
          <a:lstStyle/>
          <a:p>
            <a:pPr algn="just">
              <a:lnSpc>
                <a:spcPts val="4900"/>
              </a:lnSpc>
            </a:pPr>
            <a:r>
              <a:rPr lang="en-US" sz="3500">
                <a:solidFill>
                  <a:srgbClr val="000000"/>
                </a:solidFill>
                <a:latin typeface="Open Sans"/>
                <a:ea typeface="Open Sans"/>
                <a:cs typeface="Open Sans"/>
                <a:sym typeface="Open Sans"/>
              </a:rPr>
              <a:t>·The Agile model supports iterative, time-boxed development with rapid prototyping and stakeholder feedback.</a:t>
            </a:r>
          </a:p>
          <a:p>
            <a:pPr algn="just">
              <a:lnSpc>
                <a:spcPts val="4900"/>
              </a:lnSpc>
            </a:pPr>
            <a:r>
              <a:rPr lang="en-US" sz="3500">
                <a:solidFill>
                  <a:srgbClr val="000000"/>
                </a:solidFill>
                <a:latin typeface="Open Sans"/>
                <a:ea typeface="Open Sans"/>
                <a:cs typeface="Open Sans"/>
                <a:sym typeface="Open Sans"/>
              </a:rPr>
              <a:t>·The Prototyping model helps us visualize the impact of new modules (GhostNet, CARAFE, BasicRFB) step-by-step and test performance on subsets of data before full deployment.</a:t>
            </a:r>
          </a:p>
          <a:p>
            <a:pPr algn="just">
              <a:lnSpc>
                <a:spcPts val="4900"/>
              </a:lnSpc>
            </a:pPr>
            <a:endParaRPr lang="en-US" sz="3500">
              <a:solidFill>
                <a:srgbClr val="000000"/>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14673-DDFB-94CA-160C-53DF238BCAA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B07D64B-C41E-A814-E654-C4877939C302}"/>
              </a:ext>
            </a:extLst>
          </p:cNvPr>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a:extLst>
              <a:ext uri="{FF2B5EF4-FFF2-40B4-BE49-F238E27FC236}">
                <a16:creationId xmlns:a16="http://schemas.microsoft.com/office/drawing/2014/main" id="{36930DF4-073F-124D-797D-671705C20688}"/>
              </a:ext>
            </a:extLst>
          </p:cNvPr>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a:extLst>
              <a:ext uri="{FF2B5EF4-FFF2-40B4-BE49-F238E27FC236}">
                <a16:creationId xmlns:a16="http://schemas.microsoft.com/office/drawing/2014/main" id="{7FBE113B-C2D8-B2E8-90B0-36ECA06CF94C}"/>
              </a:ext>
            </a:extLst>
          </p:cNvPr>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a:extLst>
              <a:ext uri="{FF2B5EF4-FFF2-40B4-BE49-F238E27FC236}">
                <a16:creationId xmlns:a16="http://schemas.microsoft.com/office/drawing/2014/main" id="{2168FC64-9D22-A049-7C7C-D1B35AE98C79}"/>
              </a:ext>
            </a:extLst>
          </p:cNvPr>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SYSTEM DESIGN</a:t>
            </a:r>
          </a:p>
        </p:txBody>
      </p:sp>
      <p:grpSp>
        <p:nvGrpSpPr>
          <p:cNvPr id="6" name="Group 6">
            <a:extLst>
              <a:ext uri="{FF2B5EF4-FFF2-40B4-BE49-F238E27FC236}">
                <a16:creationId xmlns:a16="http://schemas.microsoft.com/office/drawing/2014/main" id="{0FCCD1BE-488C-C2D7-A7ED-11640A5EA8B2}"/>
              </a:ext>
            </a:extLst>
          </p:cNvPr>
          <p:cNvGrpSpPr/>
          <p:nvPr/>
        </p:nvGrpSpPr>
        <p:grpSpPr>
          <a:xfrm>
            <a:off x="15859155" y="0"/>
            <a:ext cx="1562612" cy="1673225"/>
            <a:chOff x="0" y="0"/>
            <a:chExt cx="2083482" cy="2230967"/>
          </a:xfrm>
        </p:grpSpPr>
        <p:grpSp>
          <p:nvGrpSpPr>
            <p:cNvPr id="7" name="Group 7">
              <a:extLst>
                <a:ext uri="{FF2B5EF4-FFF2-40B4-BE49-F238E27FC236}">
                  <a16:creationId xmlns:a16="http://schemas.microsoft.com/office/drawing/2014/main" id="{F242E7DB-00CE-47A7-1476-523D843C2E3A}"/>
                </a:ext>
              </a:extLst>
            </p:cNvPr>
            <p:cNvGrpSpPr/>
            <p:nvPr/>
          </p:nvGrpSpPr>
          <p:grpSpPr>
            <a:xfrm>
              <a:off x="75599" y="0"/>
              <a:ext cx="1932284" cy="2230967"/>
              <a:chOff x="0" y="0"/>
              <a:chExt cx="703982" cy="812800"/>
            </a:xfrm>
          </p:grpSpPr>
          <p:sp>
            <p:nvSpPr>
              <p:cNvPr id="8" name="Freeform 8">
                <a:extLst>
                  <a:ext uri="{FF2B5EF4-FFF2-40B4-BE49-F238E27FC236}">
                    <a16:creationId xmlns:a16="http://schemas.microsoft.com/office/drawing/2014/main" id="{D2FF2FF4-416A-B542-B398-5CAA8AFE9440}"/>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a:extLst>
                  <a:ext uri="{FF2B5EF4-FFF2-40B4-BE49-F238E27FC236}">
                    <a16:creationId xmlns:a16="http://schemas.microsoft.com/office/drawing/2014/main" id="{B1CCA3F0-6CB2-4BAD-1374-3D625160A926}"/>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9280F2D1-13F1-03C0-0B3F-6B4F38E89967}"/>
                </a:ext>
              </a:extLst>
            </p:cNvPr>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14</a:t>
              </a:r>
            </a:p>
          </p:txBody>
        </p:sp>
      </p:grpSp>
      <p:sp>
        <p:nvSpPr>
          <p:cNvPr id="11" name="Freeform 11">
            <a:extLst>
              <a:ext uri="{FF2B5EF4-FFF2-40B4-BE49-F238E27FC236}">
                <a16:creationId xmlns:a16="http://schemas.microsoft.com/office/drawing/2014/main" id="{D8A82F95-893B-1EDA-FD89-B0D9927FC9F3}"/>
              </a:ext>
            </a:extLst>
          </p:cNvPr>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a:extLst>
              <a:ext uri="{FF2B5EF4-FFF2-40B4-BE49-F238E27FC236}">
                <a16:creationId xmlns:a16="http://schemas.microsoft.com/office/drawing/2014/main" id="{28AB7C5C-E848-60DA-89EB-EDE49E115897}"/>
              </a:ext>
            </a:extLst>
          </p:cNvPr>
          <p:cNvSpPr txBox="1"/>
          <p:nvPr/>
        </p:nvSpPr>
        <p:spPr>
          <a:xfrm>
            <a:off x="3100288" y="1986368"/>
            <a:ext cx="12087424" cy="596900"/>
          </a:xfrm>
          <a:prstGeom prst="rect">
            <a:avLst/>
          </a:prstGeom>
        </p:spPr>
        <p:txBody>
          <a:bodyPr lIns="0" tIns="0" rIns="0" bIns="0" rtlCol="0" anchor="t">
            <a:spAutoFit/>
          </a:bodyPr>
          <a:lstStyle/>
          <a:p>
            <a:pPr algn="ctr">
              <a:lnSpc>
                <a:spcPts val="4900"/>
              </a:lnSpc>
            </a:pPr>
            <a:r>
              <a:rPr lang="en-US" sz="3500" b="1" dirty="0">
                <a:solidFill>
                  <a:srgbClr val="000000"/>
                </a:solidFill>
                <a:latin typeface="Open Sans Bold"/>
                <a:ea typeface="Open Sans Bold"/>
                <a:cs typeface="Open Sans Bold"/>
                <a:sym typeface="Open Sans Bold"/>
              </a:rPr>
              <a:t>DETAILED IMPLEMENTATION</a:t>
            </a:r>
          </a:p>
        </p:txBody>
      </p:sp>
      <p:pic>
        <p:nvPicPr>
          <p:cNvPr id="15" name="Picture 14">
            <a:extLst>
              <a:ext uri="{FF2B5EF4-FFF2-40B4-BE49-F238E27FC236}">
                <a16:creationId xmlns:a16="http://schemas.microsoft.com/office/drawing/2014/main" id="{A46B190C-8828-340F-3EDC-D5E5374A5B6C}"/>
              </a:ext>
            </a:extLst>
          </p:cNvPr>
          <p:cNvPicPr>
            <a:picLocks noChangeAspect="1"/>
          </p:cNvPicPr>
          <p:nvPr/>
        </p:nvPicPr>
        <p:blipFill>
          <a:blip r:embed="rId4"/>
          <a:stretch>
            <a:fillRect/>
          </a:stretch>
        </p:blipFill>
        <p:spPr>
          <a:xfrm>
            <a:off x="3100288" y="2652403"/>
            <a:ext cx="12381219" cy="5648229"/>
          </a:xfrm>
          <a:prstGeom prst="rect">
            <a:avLst/>
          </a:prstGeom>
        </p:spPr>
      </p:pic>
    </p:spTree>
    <p:extLst>
      <p:ext uri="{BB962C8B-B14F-4D97-AF65-F5344CB8AC3E}">
        <p14:creationId xmlns:p14="http://schemas.microsoft.com/office/powerpoint/2010/main" val="3276671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97DFF-F8CB-D2BD-BBFC-5904BFEA180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0C1B28A-24B3-DEE5-122D-6737D1205870}"/>
              </a:ext>
            </a:extLst>
          </p:cNvPr>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a:extLst>
              <a:ext uri="{FF2B5EF4-FFF2-40B4-BE49-F238E27FC236}">
                <a16:creationId xmlns:a16="http://schemas.microsoft.com/office/drawing/2014/main" id="{3FDCF71C-A2FA-72ED-4792-6FECF44CD75C}"/>
              </a:ext>
            </a:extLst>
          </p:cNvPr>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a:extLst>
              <a:ext uri="{FF2B5EF4-FFF2-40B4-BE49-F238E27FC236}">
                <a16:creationId xmlns:a16="http://schemas.microsoft.com/office/drawing/2014/main" id="{55A54DA4-C1F7-48A4-D491-928D3629EAF8}"/>
              </a:ext>
            </a:extLst>
          </p:cNvPr>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a:extLst>
              <a:ext uri="{FF2B5EF4-FFF2-40B4-BE49-F238E27FC236}">
                <a16:creationId xmlns:a16="http://schemas.microsoft.com/office/drawing/2014/main" id="{A54C291D-6583-F862-00F3-F74131CA50B7}"/>
              </a:ext>
            </a:extLst>
          </p:cNvPr>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SYSTEM DESIGN</a:t>
            </a:r>
          </a:p>
        </p:txBody>
      </p:sp>
      <p:grpSp>
        <p:nvGrpSpPr>
          <p:cNvPr id="6" name="Group 6">
            <a:extLst>
              <a:ext uri="{FF2B5EF4-FFF2-40B4-BE49-F238E27FC236}">
                <a16:creationId xmlns:a16="http://schemas.microsoft.com/office/drawing/2014/main" id="{036CA36A-FB66-72D2-D0E8-0FBCC111B5FA}"/>
              </a:ext>
            </a:extLst>
          </p:cNvPr>
          <p:cNvGrpSpPr/>
          <p:nvPr/>
        </p:nvGrpSpPr>
        <p:grpSpPr>
          <a:xfrm>
            <a:off x="15859155" y="0"/>
            <a:ext cx="1562612" cy="1673225"/>
            <a:chOff x="0" y="0"/>
            <a:chExt cx="2083482" cy="2230967"/>
          </a:xfrm>
        </p:grpSpPr>
        <p:grpSp>
          <p:nvGrpSpPr>
            <p:cNvPr id="7" name="Group 7">
              <a:extLst>
                <a:ext uri="{FF2B5EF4-FFF2-40B4-BE49-F238E27FC236}">
                  <a16:creationId xmlns:a16="http://schemas.microsoft.com/office/drawing/2014/main" id="{5A5AF0EB-7A66-137A-7059-13CB1B6F4187}"/>
                </a:ext>
              </a:extLst>
            </p:cNvPr>
            <p:cNvGrpSpPr/>
            <p:nvPr/>
          </p:nvGrpSpPr>
          <p:grpSpPr>
            <a:xfrm>
              <a:off x="75599" y="0"/>
              <a:ext cx="1932284" cy="2230967"/>
              <a:chOff x="0" y="0"/>
              <a:chExt cx="703982" cy="812800"/>
            </a:xfrm>
          </p:grpSpPr>
          <p:sp>
            <p:nvSpPr>
              <p:cNvPr id="8" name="Freeform 8">
                <a:extLst>
                  <a:ext uri="{FF2B5EF4-FFF2-40B4-BE49-F238E27FC236}">
                    <a16:creationId xmlns:a16="http://schemas.microsoft.com/office/drawing/2014/main" id="{FF8F91EC-7BA2-43AF-3BE9-207772FBA8CC}"/>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a:extLst>
                  <a:ext uri="{FF2B5EF4-FFF2-40B4-BE49-F238E27FC236}">
                    <a16:creationId xmlns:a16="http://schemas.microsoft.com/office/drawing/2014/main" id="{78D51B6C-762A-571E-39C6-B680A95607FE}"/>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E8FF9EFF-ADB2-E45C-2076-5F6093F02728}"/>
                </a:ext>
              </a:extLst>
            </p:cNvPr>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15</a:t>
              </a:r>
            </a:p>
          </p:txBody>
        </p:sp>
      </p:grpSp>
      <p:sp>
        <p:nvSpPr>
          <p:cNvPr id="11" name="Freeform 11">
            <a:extLst>
              <a:ext uri="{FF2B5EF4-FFF2-40B4-BE49-F238E27FC236}">
                <a16:creationId xmlns:a16="http://schemas.microsoft.com/office/drawing/2014/main" id="{B9D26681-987D-384A-E249-0B46F80F2709}"/>
              </a:ext>
            </a:extLst>
          </p:cNvPr>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a:extLst>
              <a:ext uri="{FF2B5EF4-FFF2-40B4-BE49-F238E27FC236}">
                <a16:creationId xmlns:a16="http://schemas.microsoft.com/office/drawing/2014/main" id="{25F2CE71-8824-40C0-D723-32B7A44EB8A1}"/>
              </a:ext>
            </a:extLst>
          </p:cNvPr>
          <p:cNvSpPr txBox="1"/>
          <p:nvPr/>
        </p:nvSpPr>
        <p:spPr>
          <a:xfrm>
            <a:off x="3100288" y="1986368"/>
            <a:ext cx="12087424" cy="596900"/>
          </a:xfrm>
          <a:prstGeom prst="rect">
            <a:avLst/>
          </a:prstGeom>
        </p:spPr>
        <p:txBody>
          <a:bodyPr lIns="0" tIns="0" rIns="0" bIns="0" rtlCol="0" anchor="t">
            <a:spAutoFit/>
          </a:bodyPr>
          <a:lstStyle/>
          <a:p>
            <a:pPr algn="ctr">
              <a:lnSpc>
                <a:spcPts val="4900"/>
              </a:lnSpc>
            </a:pPr>
            <a:r>
              <a:rPr lang="en-US" sz="3500" b="1" dirty="0">
                <a:solidFill>
                  <a:srgbClr val="000000"/>
                </a:solidFill>
                <a:latin typeface="Open Sans Bold"/>
                <a:ea typeface="Open Sans Bold"/>
                <a:cs typeface="Open Sans Bold"/>
                <a:sym typeface="Open Sans Bold"/>
              </a:rPr>
              <a:t>DETAILED IMPLEMENTATION</a:t>
            </a:r>
          </a:p>
        </p:txBody>
      </p:sp>
      <p:pic>
        <p:nvPicPr>
          <p:cNvPr id="14" name="Picture 13">
            <a:extLst>
              <a:ext uri="{FF2B5EF4-FFF2-40B4-BE49-F238E27FC236}">
                <a16:creationId xmlns:a16="http://schemas.microsoft.com/office/drawing/2014/main" id="{BE9E641F-3F67-EE48-A5F7-71DC71D39D02}"/>
              </a:ext>
            </a:extLst>
          </p:cNvPr>
          <p:cNvPicPr>
            <a:picLocks noChangeAspect="1"/>
          </p:cNvPicPr>
          <p:nvPr/>
        </p:nvPicPr>
        <p:blipFill>
          <a:blip r:embed="rId4"/>
          <a:stretch>
            <a:fillRect/>
          </a:stretch>
        </p:blipFill>
        <p:spPr>
          <a:xfrm>
            <a:off x="2444632" y="2823184"/>
            <a:ext cx="13289387" cy="5397222"/>
          </a:xfrm>
          <a:prstGeom prst="rect">
            <a:avLst/>
          </a:prstGeom>
        </p:spPr>
      </p:pic>
    </p:spTree>
    <p:extLst>
      <p:ext uri="{BB962C8B-B14F-4D97-AF65-F5344CB8AC3E}">
        <p14:creationId xmlns:p14="http://schemas.microsoft.com/office/powerpoint/2010/main" val="213793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SYSTEM DESIGN</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16</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2161261" y="1754065"/>
            <a:ext cx="13965478" cy="8203112"/>
          </a:xfrm>
          <a:custGeom>
            <a:avLst/>
            <a:gdLst/>
            <a:ahLst/>
            <a:cxnLst/>
            <a:rect l="l" t="t" r="r" b="b"/>
            <a:pathLst>
              <a:path w="13965478" h="8203112">
                <a:moveTo>
                  <a:pt x="0" y="0"/>
                </a:moveTo>
                <a:lnTo>
                  <a:pt x="13965478" y="0"/>
                </a:lnTo>
                <a:lnTo>
                  <a:pt x="13965478" y="8203112"/>
                </a:lnTo>
                <a:lnTo>
                  <a:pt x="0" y="8203112"/>
                </a:lnTo>
                <a:lnTo>
                  <a:pt x="0" y="0"/>
                </a:lnTo>
                <a:close/>
              </a:path>
            </a:pathLst>
          </a:custGeom>
          <a:blipFill>
            <a:blip r:embed="rId4"/>
            <a:stretch>
              <a:fillRect/>
            </a:stretch>
          </a:blipFill>
        </p:spPr>
      </p:sp>
      <p:sp>
        <p:nvSpPr>
          <p:cNvPr id="13" name="TextBox 13"/>
          <p:cNvSpPr txBox="1"/>
          <p:nvPr/>
        </p:nvSpPr>
        <p:spPr>
          <a:xfrm>
            <a:off x="6803189" y="1157165"/>
            <a:ext cx="4681621" cy="596900"/>
          </a:xfrm>
          <a:prstGeom prst="rect">
            <a:avLst/>
          </a:prstGeom>
        </p:spPr>
        <p:txBody>
          <a:bodyPr lIns="0" tIns="0" rIns="0" bIns="0" rtlCol="0" anchor="t">
            <a:spAutoFit/>
          </a:bodyPr>
          <a:lstStyle/>
          <a:p>
            <a:pPr algn="just">
              <a:lnSpc>
                <a:spcPts val="4900"/>
              </a:lnSpc>
            </a:pPr>
            <a:r>
              <a:rPr lang="en-US" sz="3500" b="1">
                <a:solidFill>
                  <a:srgbClr val="000000"/>
                </a:solidFill>
                <a:latin typeface="Open Sans Bold"/>
                <a:ea typeface="Open Sans Bold"/>
                <a:cs typeface="Open Sans Bold"/>
                <a:sym typeface="Open Sans Bold"/>
              </a:rPr>
              <a:t>Development Stages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SYSTEM DESIGN</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17</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5970318" y="1157165"/>
            <a:ext cx="6347364" cy="596900"/>
          </a:xfrm>
          <a:prstGeom prst="rect">
            <a:avLst/>
          </a:prstGeom>
        </p:spPr>
        <p:txBody>
          <a:bodyPr lIns="0" tIns="0" rIns="0" bIns="0" rtlCol="0" anchor="t">
            <a:spAutoFit/>
          </a:bodyPr>
          <a:lstStyle/>
          <a:p>
            <a:pPr algn="just">
              <a:lnSpc>
                <a:spcPts val="4900"/>
              </a:lnSpc>
            </a:pPr>
            <a:r>
              <a:rPr lang="en-US" sz="3500" b="1" dirty="0">
                <a:solidFill>
                  <a:srgbClr val="000000"/>
                </a:solidFill>
                <a:latin typeface="Open Sans Bold"/>
                <a:ea typeface="Open Sans Bold"/>
                <a:cs typeface="Open Sans Bold"/>
                <a:sym typeface="Open Sans Bold"/>
              </a:rPr>
              <a:t>Test Feedback Improve Loop</a:t>
            </a:r>
          </a:p>
        </p:txBody>
      </p:sp>
      <p:sp>
        <p:nvSpPr>
          <p:cNvPr id="13" name="TextBox 13"/>
          <p:cNvSpPr txBox="1"/>
          <p:nvPr/>
        </p:nvSpPr>
        <p:spPr>
          <a:xfrm>
            <a:off x="1028700" y="2335213"/>
            <a:ext cx="16230600" cy="5549900"/>
          </a:xfrm>
          <a:prstGeom prst="rect">
            <a:avLst/>
          </a:prstGeom>
        </p:spPr>
        <p:txBody>
          <a:bodyPr lIns="0" tIns="0" rIns="0" bIns="0" rtlCol="0" anchor="t">
            <a:spAutoFit/>
          </a:bodyPr>
          <a:lstStyle/>
          <a:p>
            <a:pPr algn="just">
              <a:lnSpc>
                <a:spcPts val="4900"/>
              </a:lnSpc>
            </a:pPr>
            <a:r>
              <a:rPr lang="en-US" sz="3500">
                <a:solidFill>
                  <a:srgbClr val="000000"/>
                </a:solidFill>
                <a:latin typeface="Open Sans"/>
                <a:ea typeface="Open Sans"/>
                <a:cs typeface="Open Sans"/>
                <a:sym typeface="Open Sans"/>
              </a:rPr>
              <a:t>After each sprint:</a:t>
            </a:r>
          </a:p>
          <a:p>
            <a:pPr marL="755651" lvl="1" indent="-377825" algn="just">
              <a:lnSpc>
                <a:spcPts val="4900"/>
              </a:lnSpc>
              <a:buAutoNum type="arabicPeriod"/>
            </a:pPr>
            <a:r>
              <a:rPr lang="en-US" sz="3500">
                <a:solidFill>
                  <a:srgbClr val="000000"/>
                </a:solidFill>
                <a:latin typeface="Open Sans"/>
                <a:ea typeface="Open Sans"/>
                <a:cs typeface="Open Sans"/>
                <a:sym typeface="Open Sans"/>
              </a:rPr>
              <a:t>The prototype was trained on a small dataset (approx. 500–1000 images).</a:t>
            </a:r>
          </a:p>
          <a:p>
            <a:pPr marL="755651" lvl="1" indent="-377825" algn="just">
              <a:lnSpc>
                <a:spcPts val="4900"/>
              </a:lnSpc>
              <a:buAutoNum type="arabicPeriod"/>
            </a:pPr>
            <a:r>
              <a:rPr lang="en-US" sz="3500">
                <a:solidFill>
                  <a:srgbClr val="000000"/>
                </a:solidFill>
                <a:latin typeface="Open Sans"/>
                <a:ea typeface="Open Sans"/>
                <a:cs typeface="Open Sans"/>
                <a:sym typeface="Open Sans"/>
              </a:rPr>
              <a:t>Results were validated using mAP and precision-recall curves.</a:t>
            </a:r>
          </a:p>
          <a:p>
            <a:pPr marL="755651" lvl="1" indent="-377825" algn="just">
              <a:lnSpc>
                <a:spcPts val="4900"/>
              </a:lnSpc>
              <a:buAutoNum type="arabicPeriod"/>
            </a:pPr>
            <a:r>
              <a:rPr lang="en-US" sz="3500">
                <a:solidFill>
                  <a:srgbClr val="000000"/>
                </a:solidFill>
                <a:latin typeface="Open Sans"/>
                <a:ea typeface="Open Sans"/>
                <a:cs typeface="Open Sans"/>
                <a:sym typeface="Open Sans"/>
              </a:rPr>
              <a:t>Issues such as overfitting, detection quality, and bounding box noise were identified.</a:t>
            </a:r>
          </a:p>
          <a:p>
            <a:pPr marL="755651" lvl="1" indent="-377825" algn="just">
              <a:lnSpc>
                <a:spcPts val="4900"/>
              </a:lnSpc>
              <a:buAutoNum type="arabicPeriod"/>
            </a:pPr>
            <a:r>
              <a:rPr lang="en-US" sz="3500">
                <a:solidFill>
                  <a:srgbClr val="000000"/>
                </a:solidFill>
                <a:latin typeface="Open Sans"/>
                <a:ea typeface="Open Sans"/>
                <a:cs typeface="Open Sans"/>
                <a:sym typeface="Open Sans"/>
              </a:rPr>
              <a:t>Changes were made to the architecture, hyperparameters, or training loop.</a:t>
            </a:r>
          </a:p>
          <a:p>
            <a:pPr marL="755651" lvl="1" indent="-377825" algn="just">
              <a:lnSpc>
                <a:spcPts val="4900"/>
              </a:lnSpc>
              <a:buAutoNum type="arabicPeriod"/>
            </a:pPr>
            <a:r>
              <a:rPr lang="en-US" sz="3500">
                <a:solidFill>
                  <a:srgbClr val="000000"/>
                </a:solidFill>
                <a:latin typeface="Open Sans"/>
                <a:ea typeface="Open Sans"/>
                <a:cs typeface="Open Sans"/>
                <a:sym typeface="Open Sans"/>
              </a:rPr>
              <a:t>Re-training was done and compared with previous iterations.</a:t>
            </a:r>
          </a:p>
          <a:p>
            <a:pPr algn="just">
              <a:lnSpc>
                <a:spcPts val="4900"/>
              </a:lnSpc>
            </a:pPr>
            <a:endParaRPr lang="en-US" sz="3500">
              <a:solidFill>
                <a:srgbClr val="000000"/>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BB5D-EA7D-367C-34FE-8FEDA964F5C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3D4C407-FFA5-7178-309B-C41C302C0910}"/>
              </a:ext>
            </a:extLst>
          </p:cNvPr>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a:extLst>
              <a:ext uri="{FF2B5EF4-FFF2-40B4-BE49-F238E27FC236}">
                <a16:creationId xmlns:a16="http://schemas.microsoft.com/office/drawing/2014/main" id="{E08C3896-CADE-2C88-4CE7-B78095E2CF63}"/>
              </a:ext>
            </a:extLst>
          </p:cNvPr>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a:extLst>
              <a:ext uri="{FF2B5EF4-FFF2-40B4-BE49-F238E27FC236}">
                <a16:creationId xmlns:a16="http://schemas.microsoft.com/office/drawing/2014/main" id="{C1225A79-033B-FDE4-D36A-98EFB91F0D6D}"/>
              </a:ext>
            </a:extLst>
          </p:cNvPr>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a:extLst>
              <a:ext uri="{FF2B5EF4-FFF2-40B4-BE49-F238E27FC236}">
                <a16:creationId xmlns:a16="http://schemas.microsoft.com/office/drawing/2014/main" id="{BFF0FDE8-90FD-B48F-F626-FCA4748D21E1}"/>
              </a:ext>
            </a:extLst>
          </p:cNvPr>
          <p:cNvSpPr txBox="1"/>
          <p:nvPr/>
        </p:nvSpPr>
        <p:spPr>
          <a:xfrm>
            <a:off x="2553980" y="-227136"/>
            <a:ext cx="13180039"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TESTING</a:t>
            </a:r>
          </a:p>
        </p:txBody>
      </p:sp>
      <p:grpSp>
        <p:nvGrpSpPr>
          <p:cNvPr id="6" name="Group 6">
            <a:extLst>
              <a:ext uri="{FF2B5EF4-FFF2-40B4-BE49-F238E27FC236}">
                <a16:creationId xmlns:a16="http://schemas.microsoft.com/office/drawing/2014/main" id="{A8DA3B14-A18B-3581-4629-37037400C60A}"/>
              </a:ext>
            </a:extLst>
          </p:cNvPr>
          <p:cNvGrpSpPr/>
          <p:nvPr/>
        </p:nvGrpSpPr>
        <p:grpSpPr>
          <a:xfrm>
            <a:off x="15859155" y="0"/>
            <a:ext cx="1562612" cy="1673225"/>
            <a:chOff x="0" y="0"/>
            <a:chExt cx="2083482" cy="2230967"/>
          </a:xfrm>
        </p:grpSpPr>
        <p:grpSp>
          <p:nvGrpSpPr>
            <p:cNvPr id="7" name="Group 7">
              <a:extLst>
                <a:ext uri="{FF2B5EF4-FFF2-40B4-BE49-F238E27FC236}">
                  <a16:creationId xmlns:a16="http://schemas.microsoft.com/office/drawing/2014/main" id="{BCF587D0-E97E-2008-AB37-8A8BCBBA74F8}"/>
                </a:ext>
              </a:extLst>
            </p:cNvPr>
            <p:cNvGrpSpPr/>
            <p:nvPr/>
          </p:nvGrpSpPr>
          <p:grpSpPr>
            <a:xfrm>
              <a:off x="75599" y="0"/>
              <a:ext cx="1932284" cy="2230967"/>
              <a:chOff x="0" y="0"/>
              <a:chExt cx="703982" cy="812800"/>
            </a:xfrm>
          </p:grpSpPr>
          <p:sp>
            <p:nvSpPr>
              <p:cNvPr id="8" name="Freeform 8">
                <a:extLst>
                  <a:ext uri="{FF2B5EF4-FFF2-40B4-BE49-F238E27FC236}">
                    <a16:creationId xmlns:a16="http://schemas.microsoft.com/office/drawing/2014/main" id="{BFA58133-816E-AE97-D9FE-B52601259249}"/>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a:extLst>
                  <a:ext uri="{FF2B5EF4-FFF2-40B4-BE49-F238E27FC236}">
                    <a16:creationId xmlns:a16="http://schemas.microsoft.com/office/drawing/2014/main" id="{C53F1AEC-4498-F2FC-B8EC-5EF4597F956D}"/>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6E508520-2854-34BB-BCA5-1C7E8A26C8FE}"/>
                </a:ext>
              </a:extLst>
            </p:cNvPr>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18</a:t>
              </a:r>
            </a:p>
          </p:txBody>
        </p:sp>
      </p:grpSp>
      <p:sp>
        <p:nvSpPr>
          <p:cNvPr id="11" name="Freeform 11">
            <a:extLst>
              <a:ext uri="{FF2B5EF4-FFF2-40B4-BE49-F238E27FC236}">
                <a16:creationId xmlns:a16="http://schemas.microsoft.com/office/drawing/2014/main" id="{A4D2DF97-9EA4-4F57-7A3B-F24970D2AC89}"/>
              </a:ext>
            </a:extLst>
          </p:cNvPr>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6" name="Picture 15">
            <a:extLst>
              <a:ext uri="{FF2B5EF4-FFF2-40B4-BE49-F238E27FC236}">
                <a16:creationId xmlns:a16="http://schemas.microsoft.com/office/drawing/2014/main" id="{AB6E63F3-B787-8C2C-75EF-F4CB22F83564}"/>
              </a:ext>
            </a:extLst>
          </p:cNvPr>
          <p:cNvPicPr>
            <a:picLocks noChangeAspect="1"/>
          </p:cNvPicPr>
          <p:nvPr/>
        </p:nvPicPr>
        <p:blipFill>
          <a:blip r:embed="rId4"/>
          <a:stretch>
            <a:fillRect/>
          </a:stretch>
        </p:blipFill>
        <p:spPr>
          <a:xfrm>
            <a:off x="4673887" y="2282501"/>
            <a:ext cx="8506204" cy="2160306"/>
          </a:xfrm>
          <a:prstGeom prst="rect">
            <a:avLst/>
          </a:prstGeom>
        </p:spPr>
      </p:pic>
      <p:pic>
        <p:nvPicPr>
          <p:cNvPr id="18" name="Picture 17">
            <a:extLst>
              <a:ext uri="{FF2B5EF4-FFF2-40B4-BE49-F238E27FC236}">
                <a16:creationId xmlns:a16="http://schemas.microsoft.com/office/drawing/2014/main" id="{46071EFE-C31E-ED47-4494-A2841EF3F2D7}"/>
              </a:ext>
            </a:extLst>
          </p:cNvPr>
          <p:cNvPicPr>
            <a:picLocks noChangeAspect="1"/>
          </p:cNvPicPr>
          <p:nvPr/>
        </p:nvPicPr>
        <p:blipFill>
          <a:blip r:embed="rId5"/>
          <a:stretch>
            <a:fillRect/>
          </a:stretch>
        </p:blipFill>
        <p:spPr>
          <a:xfrm>
            <a:off x="4572000" y="4685919"/>
            <a:ext cx="8608091" cy="2282595"/>
          </a:xfrm>
          <a:prstGeom prst="rect">
            <a:avLst/>
          </a:prstGeom>
        </p:spPr>
      </p:pic>
    </p:spTree>
    <p:extLst>
      <p:ext uri="{BB962C8B-B14F-4D97-AF65-F5344CB8AC3E}">
        <p14:creationId xmlns:p14="http://schemas.microsoft.com/office/powerpoint/2010/main" val="47194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12306-459C-6975-7775-3809B9AADE0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02ABC86-00A7-8760-58D5-E448315790A6}"/>
              </a:ext>
            </a:extLst>
          </p:cNvPr>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a:extLst>
              <a:ext uri="{FF2B5EF4-FFF2-40B4-BE49-F238E27FC236}">
                <a16:creationId xmlns:a16="http://schemas.microsoft.com/office/drawing/2014/main" id="{D8693881-D998-2DFE-3EB5-C5F6921054C2}"/>
              </a:ext>
            </a:extLst>
          </p:cNvPr>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a:extLst>
              <a:ext uri="{FF2B5EF4-FFF2-40B4-BE49-F238E27FC236}">
                <a16:creationId xmlns:a16="http://schemas.microsoft.com/office/drawing/2014/main" id="{30DB0E1C-D988-612B-7B2A-649E04670354}"/>
              </a:ext>
            </a:extLst>
          </p:cNvPr>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a:extLst>
              <a:ext uri="{FF2B5EF4-FFF2-40B4-BE49-F238E27FC236}">
                <a16:creationId xmlns:a16="http://schemas.microsoft.com/office/drawing/2014/main" id="{E102FFE1-D50F-20B5-CAAC-6D209A0B6B23}"/>
              </a:ext>
            </a:extLst>
          </p:cNvPr>
          <p:cNvSpPr txBox="1"/>
          <p:nvPr/>
        </p:nvSpPr>
        <p:spPr>
          <a:xfrm>
            <a:off x="2553980" y="-227136"/>
            <a:ext cx="13180039" cy="1430648"/>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TESTING</a:t>
            </a:r>
          </a:p>
        </p:txBody>
      </p:sp>
      <p:grpSp>
        <p:nvGrpSpPr>
          <p:cNvPr id="6" name="Group 6">
            <a:extLst>
              <a:ext uri="{FF2B5EF4-FFF2-40B4-BE49-F238E27FC236}">
                <a16:creationId xmlns:a16="http://schemas.microsoft.com/office/drawing/2014/main" id="{C735148E-EEB8-F88B-7B13-15EE5E59CBE3}"/>
              </a:ext>
            </a:extLst>
          </p:cNvPr>
          <p:cNvGrpSpPr/>
          <p:nvPr/>
        </p:nvGrpSpPr>
        <p:grpSpPr>
          <a:xfrm>
            <a:off x="15859155" y="0"/>
            <a:ext cx="1562612" cy="1673225"/>
            <a:chOff x="0" y="0"/>
            <a:chExt cx="2083482" cy="2230967"/>
          </a:xfrm>
        </p:grpSpPr>
        <p:grpSp>
          <p:nvGrpSpPr>
            <p:cNvPr id="7" name="Group 7">
              <a:extLst>
                <a:ext uri="{FF2B5EF4-FFF2-40B4-BE49-F238E27FC236}">
                  <a16:creationId xmlns:a16="http://schemas.microsoft.com/office/drawing/2014/main" id="{15AD6280-4285-260F-9AFE-85F0071C028E}"/>
                </a:ext>
              </a:extLst>
            </p:cNvPr>
            <p:cNvGrpSpPr/>
            <p:nvPr/>
          </p:nvGrpSpPr>
          <p:grpSpPr>
            <a:xfrm>
              <a:off x="75599" y="0"/>
              <a:ext cx="1932284" cy="2230967"/>
              <a:chOff x="0" y="0"/>
              <a:chExt cx="703982" cy="812800"/>
            </a:xfrm>
          </p:grpSpPr>
          <p:sp>
            <p:nvSpPr>
              <p:cNvPr id="8" name="Freeform 8">
                <a:extLst>
                  <a:ext uri="{FF2B5EF4-FFF2-40B4-BE49-F238E27FC236}">
                    <a16:creationId xmlns:a16="http://schemas.microsoft.com/office/drawing/2014/main" id="{164604EC-09AC-B660-9EBD-76D2BF4F334E}"/>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a:extLst>
                  <a:ext uri="{FF2B5EF4-FFF2-40B4-BE49-F238E27FC236}">
                    <a16:creationId xmlns:a16="http://schemas.microsoft.com/office/drawing/2014/main" id="{F7F2151A-188D-F24A-ABEC-E0B8188DBC9B}"/>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5E40784A-0176-A07A-41E9-EA2908A1EC25}"/>
                </a:ext>
              </a:extLst>
            </p:cNvPr>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19</a:t>
              </a:r>
            </a:p>
          </p:txBody>
        </p:sp>
      </p:grpSp>
      <p:sp>
        <p:nvSpPr>
          <p:cNvPr id="11" name="Freeform 11">
            <a:extLst>
              <a:ext uri="{FF2B5EF4-FFF2-40B4-BE49-F238E27FC236}">
                <a16:creationId xmlns:a16="http://schemas.microsoft.com/office/drawing/2014/main" id="{77F23FB6-DFF0-0924-D23A-B5099086BFF2}"/>
              </a:ext>
            </a:extLst>
          </p:cNvPr>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3" name="Picture 12">
            <a:extLst>
              <a:ext uri="{FF2B5EF4-FFF2-40B4-BE49-F238E27FC236}">
                <a16:creationId xmlns:a16="http://schemas.microsoft.com/office/drawing/2014/main" id="{B1262B11-0034-C8B5-8F2E-B06E1631F7F5}"/>
              </a:ext>
            </a:extLst>
          </p:cNvPr>
          <p:cNvPicPr>
            <a:picLocks noChangeAspect="1"/>
          </p:cNvPicPr>
          <p:nvPr/>
        </p:nvPicPr>
        <p:blipFill>
          <a:blip r:embed="rId4"/>
          <a:stretch>
            <a:fillRect/>
          </a:stretch>
        </p:blipFill>
        <p:spPr>
          <a:xfrm>
            <a:off x="7391400" y="1904212"/>
            <a:ext cx="3505200" cy="6478575"/>
          </a:xfrm>
          <a:prstGeom prst="rect">
            <a:avLst/>
          </a:prstGeom>
        </p:spPr>
      </p:pic>
      <p:sp>
        <p:nvSpPr>
          <p:cNvPr id="15" name="TextBox 14">
            <a:extLst>
              <a:ext uri="{FF2B5EF4-FFF2-40B4-BE49-F238E27FC236}">
                <a16:creationId xmlns:a16="http://schemas.microsoft.com/office/drawing/2014/main" id="{4F7500BE-1120-625A-0ECA-AD30D6103963}"/>
              </a:ext>
            </a:extLst>
          </p:cNvPr>
          <p:cNvSpPr txBox="1"/>
          <p:nvPr/>
        </p:nvSpPr>
        <p:spPr>
          <a:xfrm>
            <a:off x="7428875" y="1010287"/>
            <a:ext cx="4318417" cy="662938"/>
          </a:xfrm>
          <a:prstGeom prst="rect">
            <a:avLst/>
          </a:prstGeom>
          <a:noFill/>
        </p:spPr>
        <p:txBody>
          <a:bodyPr wrap="square">
            <a:spAutoFit/>
          </a:bodyPr>
          <a:lstStyle/>
          <a:p>
            <a:pPr algn="just">
              <a:lnSpc>
                <a:spcPts val="4900"/>
              </a:lnSpc>
            </a:pPr>
            <a:r>
              <a:rPr lang="en-US" sz="3000" b="1" dirty="0">
                <a:solidFill>
                  <a:srgbClr val="000000"/>
                </a:solidFill>
                <a:latin typeface="Open Sans Bold"/>
                <a:ea typeface="Open Sans Bold"/>
                <a:cs typeface="Open Sans Bold"/>
                <a:sym typeface="Open Sans Bold"/>
              </a:rPr>
              <a:t>OVERALL METRICS</a:t>
            </a:r>
          </a:p>
        </p:txBody>
      </p:sp>
    </p:spTree>
    <p:extLst>
      <p:ext uri="{BB962C8B-B14F-4D97-AF65-F5344CB8AC3E}">
        <p14:creationId xmlns:p14="http://schemas.microsoft.com/office/powerpoint/2010/main" val="3957521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C006D-106C-0559-13F5-8208333B1DF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DEAFEEF-94C6-573C-71F6-41488F44CC19}"/>
              </a:ext>
            </a:extLst>
          </p:cNvPr>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Freeform 3">
            <a:extLst>
              <a:ext uri="{FF2B5EF4-FFF2-40B4-BE49-F238E27FC236}">
                <a16:creationId xmlns:a16="http://schemas.microsoft.com/office/drawing/2014/main" id="{252C52F9-3249-4CF4-1B2D-59BE0E74A7A7}"/>
              </a:ext>
            </a:extLst>
          </p:cNvPr>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a:extLst>
              <a:ext uri="{FF2B5EF4-FFF2-40B4-BE49-F238E27FC236}">
                <a16:creationId xmlns:a16="http://schemas.microsoft.com/office/drawing/2014/main" id="{9FF7EE5B-9A09-5052-3BC6-724F3C3BD1CD}"/>
              </a:ext>
            </a:extLst>
          </p:cNvPr>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a:extLst>
              <a:ext uri="{FF2B5EF4-FFF2-40B4-BE49-F238E27FC236}">
                <a16:creationId xmlns:a16="http://schemas.microsoft.com/office/drawing/2014/main" id="{6AA9FACF-98C0-9DD3-969B-85886D855B2F}"/>
              </a:ext>
            </a:extLst>
          </p:cNvPr>
          <p:cNvSpPr txBox="1"/>
          <p:nvPr/>
        </p:nvSpPr>
        <p:spPr>
          <a:xfrm>
            <a:off x="2553980" y="-227136"/>
            <a:ext cx="13180039" cy="1430648"/>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TESTING</a:t>
            </a:r>
          </a:p>
        </p:txBody>
      </p:sp>
      <p:grpSp>
        <p:nvGrpSpPr>
          <p:cNvPr id="6" name="Group 6">
            <a:extLst>
              <a:ext uri="{FF2B5EF4-FFF2-40B4-BE49-F238E27FC236}">
                <a16:creationId xmlns:a16="http://schemas.microsoft.com/office/drawing/2014/main" id="{D948CFED-311E-6A79-BF82-5D3CEE38FB22}"/>
              </a:ext>
            </a:extLst>
          </p:cNvPr>
          <p:cNvGrpSpPr/>
          <p:nvPr/>
        </p:nvGrpSpPr>
        <p:grpSpPr>
          <a:xfrm>
            <a:off x="15859155" y="0"/>
            <a:ext cx="1562612" cy="1673225"/>
            <a:chOff x="0" y="0"/>
            <a:chExt cx="2083482" cy="2230967"/>
          </a:xfrm>
        </p:grpSpPr>
        <p:grpSp>
          <p:nvGrpSpPr>
            <p:cNvPr id="7" name="Group 7">
              <a:extLst>
                <a:ext uri="{FF2B5EF4-FFF2-40B4-BE49-F238E27FC236}">
                  <a16:creationId xmlns:a16="http://schemas.microsoft.com/office/drawing/2014/main" id="{5583B782-4D8B-855C-72D9-3ACCC2614867}"/>
                </a:ext>
              </a:extLst>
            </p:cNvPr>
            <p:cNvGrpSpPr/>
            <p:nvPr/>
          </p:nvGrpSpPr>
          <p:grpSpPr>
            <a:xfrm>
              <a:off x="75599" y="0"/>
              <a:ext cx="1932284" cy="2230967"/>
              <a:chOff x="0" y="0"/>
              <a:chExt cx="703982" cy="812800"/>
            </a:xfrm>
          </p:grpSpPr>
          <p:sp>
            <p:nvSpPr>
              <p:cNvPr id="8" name="Freeform 8">
                <a:extLst>
                  <a:ext uri="{FF2B5EF4-FFF2-40B4-BE49-F238E27FC236}">
                    <a16:creationId xmlns:a16="http://schemas.microsoft.com/office/drawing/2014/main" id="{8A0F2ECA-1684-6207-72FF-7210DB12AF34}"/>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a:extLst>
                  <a:ext uri="{FF2B5EF4-FFF2-40B4-BE49-F238E27FC236}">
                    <a16:creationId xmlns:a16="http://schemas.microsoft.com/office/drawing/2014/main" id="{6FFF2673-EF9C-2386-048B-6BB82FEE0979}"/>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B3C1B4C0-223C-1748-65B3-F5DBEFC9F8B6}"/>
                </a:ext>
              </a:extLst>
            </p:cNvPr>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20</a:t>
              </a:r>
            </a:p>
          </p:txBody>
        </p:sp>
      </p:grpSp>
      <p:sp>
        <p:nvSpPr>
          <p:cNvPr id="11" name="Freeform 11">
            <a:extLst>
              <a:ext uri="{FF2B5EF4-FFF2-40B4-BE49-F238E27FC236}">
                <a16:creationId xmlns:a16="http://schemas.microsoft.com/office/drawing/2014/main" id="{3757BD83-321D-E738-BEC6-92F25F5396CC}"/>
              </a:ext>
            </a:extLst>
          </p:cNvPr>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4">
            <a:extLst>
              <a:ext uri="{FF2B5EF4-FFF2-40B4-BE49-F238E27FC236}">
                <a16:creationId xmlns:a16="http://schemas.microsoft.com/office/drawing/2014/main" id="{67F1D450-118B-460B-5F5A-5B92A1B85495}"/>
              </a:ext>
            </a:extLst>
          </p:cNvPr>
          <p:cNvSpPr txBox="1"/>
          <p:nvPr/>
        </p:nvSpPr>
        <p:spPr>
          <a:xfrm>
            <a:off x="7676836" y="1010287"/>
            <a:ext cx="2934325" cy="662938"/>
          </a:xfrm>
          <a:prstGeom prst="rect">
            <a:avLst/>
          </a:prstGeom>
          <a:noFill/>
        </p:spPr>
        <p:txBody>
          <a:bodyPr wrap="square">
            <a:spAutoFit/>
          </a:bodyPr>
          <a:lstStyle/>
          <a:p>
            <a:pPr algn="just">
              <a:lnSpc>
                <a:spcPts val="4900"/>
              </a:lnSpc>
            </a:pPr>
            <a:r>
              <a:rPr lang="en-US" sz="3000" b="1" dirty="0">
                <a:solidFill>
                  <a:srgbClr val="000000"/>
                </a:solidFill>
                <a:latin typeface="Open Sans Bold"/>
                <a:ea typeface="Open Sans Bold"/>
                <a:cs typeface="Open Sans Bold"/>
                <a:sym typeface="Open Sans Bold"/>
              </a:rPr>
              <a:t>COMPARISON</a:t>
            </a:r>
          </a:p>
        </p:txBody>
      </p:sp>
      <p:pic>
        <p:nvPicPr>
          <p:cNvPr id="14" name="Picture 13">
            <a:extLst>
              <a:ext uri="{FF2B5EF4-FFF2-40B4-BE49-F238E27FC236}">
                <a16:creationId xmlns:a16="http://schemas.microsoft.com/office/drawing/2014/main" id="{D32869ED-FD8E-1EBA-52A6-9ECA6E827626}"/>
              </a:ext>
            </a:extLst>
          </p:cNvPr>
          <p:cNvPicPr>
            <a:picLocks noChangeAspect="1"/>
          </p:cNvPicPr>
          <p:nvPr/>
        </p:nvPicPr>
        <p:blipFill>
          <a:blip r:embed="rId4"/>
          <a:stretch>
            <a:fillRect/>
          </a:stretch>
        </p:blipFill>
        <p:spPr>
          <a:xfrm>
            <a:off x="3048000" y="1673225"/>
            <a:ext cx="12374892" cy="6847107"/>
          </a:xfrm>
          <a:prstGeom prst="rect">
            <a:avLst/>
          </a:prstGeom>
        </p:spPr>
      </p:pic>
    </p:spTree>
    <p:extLst>
      <p:ext uri="{BB962C8B-B14F-4D97-AF65-F5344CB8AC3E}">
        <p14:creationId xmlns:p14="http://schemas.microsoft.com/office/powerpoint/2010/main" val="1261092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TextBox 5"/>
          <p:cNvSpPr txBox="1"/>
          <p:nvPr/>
        </p:nvSpPr>
        <p:spPr>
          <a:xfrm>
            <a:off x="2553980" y="222250"/>
            <a:ext cx="13180039"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RESULTS</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21</a:t>
              </a:r>
            </a:p>
          </p:txBody>
        </p:sp>
      </p:grpSp>
      <p:sp>
        <p:nvSpPr>
          <p:cNvPr id="11" name="Freeform 11"/>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3" name="Picture 12">
            <a:extLst>
              <a:ext uri="{FF2B5EF4-FFF2-40B4-BE49-F238E27FC236}">
                <a16:creationId xmlns:a16="http://schemas.microsoft.com/office/drawing/2014/main" id="{94463B23-9090-1403-AD6C-8D0EF7AA1C0A}"/>
              </a:ext>
            </a:extLst>
          </p:cNvPr>
          <p:cNvPicPr>
            <a:picLocks noChangeAspect="1"/>
          </p:cNvPicPr>
          <p:nvPr/>
        </p:nvPicPr>
        <p:blipFill>
          <a:blip r:embed="rId4"/>
          <a:stretch>
            <a:fillRect/>
          </a:stretch>
        </p:blipFill>
        <p:spPr>
          <a:xfrm>
            <a:off x="3012993" y="1776393"/>
            <a:ext cx="12262013" cy="68917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AutoShape 3"/>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4" name="TextBox 4"/>
          <p:cNvSpPr txBox="1"/>
          <p:nvPr/>
        </p:nvSpPr>
        <p:spPr>
          <a:xfrm>
            <a:off x="2553980" y="222250"/>
            <a:ext cx="13180039"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CONCLUSION</a:t>
            </a:r>
          </a:p>
        </p:txBody>
      </p:sp>
      <p:grpSp>
        <p:nvGrpSpPr>
          <p:cNvPr id="5" name="Group 5"/>
          <p:cNvGrpSpPr/>
          <p:nvPr/>
        </p:nvGrpSpPr>
        <p:grpSpPr>
          <a:xfrm>
            <a:off x="15859155" y="0"/>
            <a:ext cx="1562612" cy="1673225"/>
            <a:chOff x="0" y="0"/>
            <a:chExt cx="2083482" cy="2230967"/>
          </a:xfrm>
        </p:grpSpPr>
        <p:grpSp>
          <p:nvGrpSpPr>
            <p:cNvPr id="6" name="Group 6"/>
            <p:cNvGrpSpPr/>
            <p:nvPr/>
          </p:nvGrpSpPr>
          <p:grpSpPr>
            <a:xfrm>
              <a:off x="75599" y="0"/>
              <a:ext cx="1932284" cy="2230967"/>
              <a:chOff x="0" y="0"/>
              <a:chExt cx="703982" cy="812800"/>
            </a:xfrm>
          </p:grpSpPr>
          <p:sp>
            <p:nvSpPr>
              <p:cNvPr id="7" name="Freeform 7"/>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8" name="TextBox 8"/>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22</a:t>
              </a:r>
            </a:p>
          </p:txBody>
        </p:sp>
      </p:grpSp>
      <p:sp>
        <p:nvSpPr>
          <p:cNvPr id="10" name="Freeform 10"/>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2362200" y="2933700"/>
            <a:ext cx="13905172" cy="3693319"/>
          </a:xfrm>
          <a:prstGeom prst="rect">
            <a:avLst/>
          </a:prstGeom>
        </p:spPr>
        <p:txBody>
          <a:bodyPr wrap="square" lIns="0" tIns="0" rIns="0" bIns="0" rtlCol="0" anchor="t">
            <a:spAutoFit/>
          </a:bodyPr>
          <a:lstStyle/>
          <a:p>
            <a:pPr algn="just"/>
            <a:r>
              <a:rPr lang="en-US" sz="3000" dirty="0">
                <a:latin typeface="Times New Roman" panose="02020603050405020304" pitchFamily="18" charset="0"/>
                <a:cs typeface="Times New Roman" panose="02020603050405020304" pitchFamily="18" charset="0"/>
              </a:rPr>
              <a:t>Overall, this study contributes a region-focused, deployable solution that addresses critical challenges in road condition assessment, with potential impact on improving public safety and reducing maintenance costs. Future work can extend this framework to incorporate more damage categories, multi-modal data, and deployment on edge devices for broader real-world applicability. The research bridges the practical deployment gap by aligning the model’s architectural enhancements with the needs of embedded platforms. Furthermore, training exclusively on Indian road imagery makes the model highly adaptive to regional road damage patterns, a feature missing in prior generalized models.</a:t>
            </a:r>
            <a:endParaRPr lang="en-IN"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A27C5-ADE2-625E-C986-061E5C020FC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F2D84FD-3B36-21D5-17BC-1C15309BA2F2}"/>
              </a:ext>
            </a:extLst>
          </p:cNvPr>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AutoShape 3">
            <a:extLst>
              <a:ext uri="{FF2B5EF4-FFF2-40B4-BE49-F238E27FC236}">
                <a16:creationId xmlns:a16="http://schemas.microsoft.com/office/drawing/2014/main" id="{2EA5EB57-B1D7-B836-AC53-ED330411FC68}"/>
              </a:ext>
            </a:extLst>
          </p:cNvPr>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4" name="TextBox 4">
            <a:extLst>
              <a:ext uri="{FF2B5EF4-FFF2-40B4-BE49-F238E27FC236}">
                <a16:creationId xmlns:a16="http://schemas.microsoft.com/office/drawing/2014/main" id="{1FF2FB12-72E4-7A35-B05E-D3ACADCE245B}"/>
              </a:ext>
            </a:extLst>
          </p:cNvPr>
          <p:cNvSpPr txBox="1"/>
          <p:nvPr/>
        </p:nvSpPr>
        <p:spPr>
          <a:xfrm>
            <a:off x="2553980" y="222250"/>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REFERENCES</a:t>
            </a:r>
          </a:p>
        </p:txBody>
      </p:sp>
      <p:grpSp>
        <p:nvGrpSpPr>
          <p:cNvPr id="5" name="Group 5">
            <a:extLst>
              <a:ext uri="{FF2B5EF4-FFF2-40B4-BE49-F238E27FC236}">
                <a16:creationId xmlns:a16="http://schemas.microsoft.com/office/drawing/2014/main" id="{A830B2AB-78D1-9A6F-A94D-A16AA6F25648}"/>
              </a:ext>
            </a:extLst>
          </p:cNvPr>
          <p:cNvGrpSpPr/>
          <p:nvPr/>
        </p:nvGrpSpPr>
        <p:grpSpPr>
          <a:xfrm>
            <a:off x="15859155" y="0"/>
            <a:ext cx="1562612" cy="1673225"/>
            <a:chOff x="0" y="0"/>
            <a:chExt cx="2083482" cy="2230967"/>
          </a:xfrm>
        </p:grpSpPr>
        <p:grpSp>
          <p:nvGrpSpPr>
            <p:cNvPr id="6" name="Group 6">
              <a:extLst>
                <a:ext uri="{FF2B5EF4-FFF2-40B4-BE49-F238E27FC236}">
                  <a16:creationId xmlns:a16="http://schemas.microsoft.com/office/drawing/2014/main" id="{552590EA-0D6D-05E1-783C-5A085A4A1211}"/>
                </a:ext>
              </a:extLst>
            </p:cNvPr>
            <p:cNvGrpSpPr/>
            <p:nvPr/>
          </p:nvGrpSpPr>
          <p:grpSpPr>
            <a:xfrm>
              <a:off x="75599" y="0"/>
              <a:ext cx="1932284" cy="2230967"/>
              <a:chOff x="0" y="0"/>
              <a:chExt cx="703982" cy="812800"/>
            </a:xfrm>
          </p:grpSpPr>
          <p:sp>
            <p:nvSpPr>
              <p:cNvPr id="7" name="Freeform 7">
                <a:extLst>
                  <a:ext uri="{FF2B5EF4-FFF2-40B4-BE49-F238E27FC236}">
                    <a16:creationId xmlns:a16="http://schemas.microsoft.com/office/drawing/2014/main" id="{19D6C94D-0102-34B9-1284-B49B827690E6}"/>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8" name="TextBox 8">
                <a:extLst>
                  <a:ext uri="{FF2B5EF4-FFF2-40B4-BE49-F238E27FC236}">
                    <a16:creationId xmlns:a16="http://schemas.microsoft.com/office/drawing/2014/main" id="{8F93E325-5D4C-80D3-BCDF-E5AC911A1635}"/>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9" name="TextBox 9">
              <a:extLst>
                <a:ext uri="{FF2B5EF4-FFF2-40B4-BE49-F238E27FC236}">
                  <a16:creationId xmlns:a16="http://schemas.microsoft.com/office/drawing/2014/main" id="{DAA83BF2-2FA8-9FF4-79CD-F0768AC6E2B6}"/>
                </a:ext>
              </a:extLst>
            </p:cNvPr>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23</a:t>
              </a:r>
            </a:p>
          </p:txBody>
        </p:sp>
      </p:grpSp>
      <p:sp>
        <p:nvSpPr>
          <p:cNvPr id="10" name="Freeform 10">
            <a:extLst>
              <a:ext uri="{FF2B5EF4-FFF2-40B4-BE49-F238E27FC236}">
                <a16:creationId xmlns:a16="http://schemas.microsoft.com/office/drawing/2014/main" id="{D740BA8E-5FB1-C20C-3F9D-937823C7998F}"/>
              </a:ext>
            </a:extLst>
          </p:cNvPr>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a:extLst>
              <a:ext uri="{FF2B5EF4-FFF2-40B4-BE49-F238E27FC236}">
                <a16:creationId xmlns:a16="http://schemas.microsoft.com/office/drawing/2014/main" id="{9E80F4E9-1AFE-79E7-C4CC-A3B00C717081}"/>
              </a:ext>
            </a:extLst>
          </p:cNvPr>
          <p:cNvSpPr txBox="1"/>
          <p:nvPr/>
        </p:nvSpPr>
        <p:spPr>
          <a:xfrm>
            <a:off x="1030028" y="1616075"/>
            <a:ext cx="16229272" cy="7281545"/>
          </a:xfrm>
          <a:prstGeom prst="rect">
            <a:avLst/>
          </a:prstGeom>
        </p:spPr>
        <p:txBody>
          <a:bodyPr lIns="0" tIns="0" rIns="0" bIns="0" rtlCol="0" anchor="t">
            <a:spAutoFit/>
          </a:bodyPr>
          <a:lstStyle/>
          <a:p>
            <a:pPr algn="l">
              <a:lnSpc>
                <a:spcPts val="4480"/>
              </a:lnSpc>
            </a:pPr>
            <a:r>
              <a:rPr lang="en-US" sz="3200" b="1">
                <a:solidFill>
                  <a:srgbClr val="000000"/>
                </a:solidFill>
                <a:latin typeface="Open Sans Bold"/>
                <a:ea typeface="Open Sans Bold"/>
                <a:cs typeface="Open Sans Bold"/>
                <a:sym typeface="Open Sans Bold"/>
              </a:rPr>
              <a:t>[1] </a:t>
            </a:r>
            <a:r>
              <a:rPr lang="en-US" sz="3200">
                <a:solidFill>
                  <a:srgbClr val="000000"/>
                </a:solidFill>
                <a:latin typeface="Open Sans"/>
                <a:ea typeface="Open Sans"/>
                <a:cs typeface="Open Sans"/>
                <a:sym typeface="Open Sans"/>
              </a:rPr>
              <a:t>C. Wang, J. Wang, D. Wang, C. Guo, and H. Wang,</a:t>
            </a:r>
            <a:r>
              <a:rPr lang="en-US" sz="3200" b="1">
                <a:solidFill>
                  <a:srgbClr val="000000"/>
                </a:solidFill>
                <a:latin typeface="Open Sans Bold"/>
                <a:ea typeface="Open Sans Bold"/>
                <a:cs typeface="Open Sans Bold"/>
                <a:sym typeface="Open Sans Bold"/>
              </a:rPr>
              <a:t> “Improved lightweight road damage detection based on YOLOv5,”</a:t>
            </a:r>
            <a:r>
              <a:rPr lang="en-US" sz="3200">
                <a:solidFill>
                  <a:srgbClr val="000000"/>
                </a:solidFill>
                <a:latin typeface="Open Sans"/>
                <a:ea typeface="Open Sans"/>
                <a:cs typeface="Open Sans"/>
                <a:sym typeface="Open Sans"/>
              </a:rPr>
              <a:t> Alexandria Engineering Journal, vol. 72, pp. 371–381, 2023.</a:t>
            </a:r>
          </a:p>
          <a:p>
            <a:pPr algn="l">
              <a:lnSpc>
                <a:spcPts val="4480"/>
              </a:lnSpc>
            </a:pPr>
            <a:r>
              <a:rPr lang="en-US" sz="3200" b="1">
                <a:solidFill>
                  <a:srgbClr val="000000"/>
                </a:solidFill>
                <a:latin typeface="Open Sans Bold"/>
                <a:ea typeface="Open Sans Bold"/>
                <a:cs typeface="Open Sans Bold"/>
                <a:sym typeface="Open Sans Bold"/>
              </a:rPr>
              <a:t>[2]</a:t>
            </a:r>
            <a:r>
              <a:rPr lang="en-US" sz="3200">
                <a:solidFill>
                  <a:srgbClr val="000000"/>
                </a:solidFill>
                <a:latin typeface="Open Sans"/>
                <a:ea typeface="Open Sans"/>
                <a:cs typeface="Open Sans"/>
                <a:sym typeface="Open Sans"/>
              </a:rPr>
              <a:t> S. Raza, A. Mohamed, K. S. Kalid, and N. Salim, </a:t>
            </a:r>
            <a:r>
              <a:rPr lang="en-US" sz="3200" b="1">
                <a:solidFill>
                  <a:srgbClr val="000000"/>
                </a:solidFill>
                <a:latin typeface="Open Sans Bold"/>
                <a:ea typeface="Open Sans Bold"/>
                <a:cs typeface="Open Sans Bold"/>
                <a:sym typeface="Open Sans Bold"/>
              </a:rPr>
              <a:t>“An Improved Computer Vision Model for Pothole Detection Using YOLO,”</a:t>
            </a:r>
            <a:r>
              <a:rPr lang="en-US" sz="3200">
                <a:solidFill>
                  <a:srgbClr val="000000"/>
                </a:solidFill>
                <a:latin typeface="Open Sans"/>
                <a:ea typeface="Open Sans"/>
                <a:cs typeface="Open Sans"/>
                <a:sym typeface="Open Sans"/>
              </a:rPr>
              <a:t> Computers, Materials &amp; Continua, vol. 77, no. 2, pp. 1835–1851, 2023.</a:t>
            </a:r>
          </a:p>
          <a:p>
            <a:pPr algn="l">
              <a:lnSpc>
                <a:spcPts val="4480"/>
              </a:lnSpc>
            </a:pPr>
            <a:r>
              <a:rPr lang="en-US" sz="3200" b="1">
                <a:solidFill>
                  <a:srgbClr val="000000"/>
                </a:solidFill>
                <a:latin typeface="Open Sans Bold"/>
                <a:ea typeface="Open Sans Bold"/>
                <a:cs typeface="Open Sans Bold"/>
                <a:sym typeface="Open Sans Bold"/>
              </a:rPr>
              <a:t>[3] </a:t>
            </a:r>
            <a:r>
              <a:rPr lang="en-US" sz="3200">
                <a:solidFill>
                  <a:srgbClr val="000000"/>
                </a:solidFill>
                <a:latin typeface="Open Sans"/>
                <a:ea typeface="Open Sans"/>
                <a:cs typeface="Open Sans"/>
                <a:sym typeface="Open Sans"/>
              </a:rPr>
              <a:t>M. Wang, W. Liang, X. Liu, and Z. Liu,</a:t>
            </a:r>
            <a:r>
              <a:rPr lang="en-US" sz="3200" b="1">
                <a:solidFill>
                  <a:srgbClr val="000000"/>
                </a:solidFill>
                <a:latin typeface="Open Sans Bold"/>
                <a:ea typeface="Open Sans Bold"/>
                <a:cs typeface="Open Sans Bold"/>
                <a:sym typeface="Open Sans Bold"/>
              </a:rPr>
              <a:t> “Efficient and accurate road crack detection technology based on YOLOv8-ES,”</a:t>
            </a:r>
            <a:r>
              <a:rPr lang="en-US" sz="3200">
                <a:solidFill>
                  <a:srgbClr val="000000"/>
                </a:solidFill>
                <a:latin typeface="Open Sans"/>
                <a:ea typeface="Open Sans"/>
                <a:cs typeface="Open Sans"/>
                <a:sym typeface="Open Sans"/>
              </a:rPr>
              <a:t> Computers and Electrical Engineering, vol. 112, 2024.</a:t>
            </a:r>
          </a:p>
          <a:p>
            <a:pPr algn="l">
              <a:lnSpc>
                <a:spcPts val="4480"/>
              </a:lnSpc>
            </a:pPr>
            <a:r>
              <a:rPr lang="en-US" sz="3200" b="1">
                <a:solidFill>
                  <a:srgbClr val="000000"/>
                </a:solidFill>
                <a:latin typeface="Open Sans Bold"/>
                <a:ea typeface="Open Sans Bold"/>
                <a:cs typeface="Open Sans Bold"/>
                <a:sym typeface="Open Sans Bold"/>
              </a:rPr>
              <a:t>[4]</a:t>
            </a:r>
            <a:r>
              <a:rPr lang="en-US" sz="3200">
                <a:solidFill>
                  <a:srgbClr val="000000"/>
                </a:solidFill>
                <a:latin typeface="Open Sans"/>
                <a:ea typeface="Open Sans"/>
                <a:cs typeface="Open Sans"/>
                <a:sym typeface="Open Sans"/>
              </a:rPr>
              <a:t> V. Pham, Road Damage Detection 2024 using YOLOv7, GitHub repository, 2024. [Online]. Available: </a:t>
            </a:r>
            <a:r>
              <a:rPr lang="en-US" sz="3200" b="1">
                <a:solidFill>
                  <a:srgbClr val="000000"/>
                </a:solidFill>
                <a:latin typeface="Open Sans Bold"/>
                <a:ea typeface="Open Sans Bold"/>
                <a:cs typeface="Open Sans Bold"/>
                <a:sym typeface="Open Sans Bold"/>
              </a:rPr>
              <a:t>https://github.com/phamvanvung/roaddamagedetection2024</a:t>
            </a:r>
          </a:p>
          <a:p>
            <a:pPr algn="l">
              <a:lnSpc>
                <a:spcPts val="4480"/>
              </a:lnSpc>
            </a:pPr>
            <a:r>
              <a:rPr lang="en-US" sz="3200" b="1">
                <a:solidFill>
                  <a:srgbClr val="000000"/>
                </a:solidFill>
                <a:latin typeface="Open Sans Bold"/>
                <a:ea typeface="Open Sans Bold"/>
                <a:cs typeface="Open Sans Bold"/>
                <a:sym typeface="Open Sans Bold"/>
              </a:rPr>
              <a:t>[5]</a:t>
            </a:r>
            <a:r>
              <a:rPr lang="en-US" sz="3200">
                <a:solidFill>
                  <a:srgbClr val="000000"/>
                </a:solidFill>
                <a:latin typeface="Open Sans"/>
                <a:ea typeface="Open Sans"/>
                <a:cs typeface="Open Sans"/>
                <a:sym typeface="Open Sans"/>
              </a:rPr>
              <a:t> Sekilab, Road Damage Detector using RDD2020, GitHub repository, 2020. [Online]. Available: </a:t>
            </a:r>
            <a:r>
              <a:rPr lang="en-US" sz="3200" b="1">
                <a:solidFill>
                  <a:srgbClr val="000000"/>
                </a:solidFill>
                <a:latin typeface="Open Sans Bold"/>
                <a:ea typeface="Open Sans Bold"/>
                <a:cs typeface="Open Sans Bold"/>
                <a:sym typeface="Open Sans Bold"/>
              </a:rPr>
              <a:t>https://github.com/sekilab/RoadDamageDetector</a:t>
            </a:r>
          </a:p>
        </p:txBody>
      </p:sp>
    </p:spTree>
    <p:extLst>
      <p:ext uri="{BB962C8B-B14F-4D97-AF65-F5344CB8AC3E}">
        <p14:creationId xmlns:p14="http://schemas.microsoft.com/office/powerpoint/2010/main" val="1519532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3"/>
              </a:lnSpc>
            </a:pPr>
            <a:r>
              <a:rPr lang="en-US" sz="14695">
                <a:solidFill>
                  <a:srgbClr val="000000"/>
                </a:solidFill>
                <a:latin typeface="Alatsi"/>
                <a:ea typeface="Alatsi"/>
                <a:cs typeface="Alatsi"/>
                <a:sym typeface="Alatsi"/>
              </a:rPr>
              <a:t>THANK YOU</a:t>
            </a:r>
          </a:p>
        </p:txBody>
      </p:sp>
      <p:grpSp>
        <p:nvGrpSpPr>
          <p:cNvPr id="3" name="Group 3"/>
          <p:cNvGrpSpPr/>
          <p:nvPr/>
        </p:nvGrpSpPr>
        <p:grpSpPr>
          <a:xfrm>
            <a:off x="-31071" y="0"/>
            <a:ext cx="4239083" cy="10287000"/>
            <a:chOff x="0" y="0"/>
            <a:chExt cx="5652111" cy="13716000"/>
          </a:xfrm>
        </p:grpSpPr>
        <p:grpSp>
          <p:nvGrpSpPr>
            <p:cNvPr id="4" name="Group 4"/>
            <p:cNvGrpSpPr/>
            <p:nvPr/>
          </p:nvGrpSpPr>
          <p:grpSpPr>
            <a:xfrm>
              <a:off x="2826056" y="0"/>
              <a:ext cx="2826056" cy="13716000"/>
              <a:chOff x="0" y="0"/>
              <a:chExt cx="558233" cy="2709333"/>
            </a:xfrm>
          </p:grpSpPr>
          <p:sp>
            <p:nvSpPr>
              <p:cNvPr id="5" name="Freeform 5"/>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6" name="TextBox 6"/>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413028" y="0"/>
              <a:ext cx="2826056" cy="13716000"/>
              <a:chOff x="0" y="0"/>
              <a:chExt cx="558233" cy="2709333"/>
            </a:xfrm>
          </p:grpSpPr>
          <p:sp>
            <p:nvSpPr>
              <p:cNvPr id="8" name="Freeform 8"/>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9" name="TextBox 9"/>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2826056" cy="13716000"/>
              <a:chOff x="0" y="0"/>
              <a:chExt cx="558233" cy="2709333"/>
            </a:xfrm>
          </p:grpSpPr>
          <p:sp>
            <p:nvSpPr>
              <p:cNvPr id="11" name="Freeform 11"/>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2" name="TextBox 12"/>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3" name="Freeform 13"/>
          <p:cNvSpPr/>
          <p:nvPr/>
        </p:nvSpPr>
        <p:spPr>
          <a:xfrm>
            <a:off x="12412831" y="80262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1413653" y="-57369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947</Words>
  <Application>Microsoft Office PowerPoint</Application>
  <PresentationFormat>Custom</PresentationFormat>
  <Paragraphs>96</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Abhaya Libre Bold</vt:lpstr>
      <vt:lpstr>Times New Roman</vt:lpstr>
      <vt:lpstr>Alatsi</vt:lpstr>
      <vt:lpstr>Open Sans Bold</vt:lpstr>
      <vt:lpstr>Open Sans</vt:lpstr>
      <vt:lpstr>Calibri</vt:lpstr>
      <vt:lpstr>Abhaya Libre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dc:title>
  <cp:lastModifiedBy>S.M.D ZAHEED HUSSAIN</cp:lastModifiedBy>
  <cp:revision>3</cp:revision>
  <dcterms:created xsi:type="dcterms:W3CDTF">2006-08-16T00:00:00Z</dcterms:created>
  <dcterms:modified xsi:type="dcterms:W3CDTF">2025-08-21T04:47:28Z</dcterms:modified>
  <dc:identifier>DAGitIJpZYg</dc:identifier>
</cp:coreProperties>
</file>